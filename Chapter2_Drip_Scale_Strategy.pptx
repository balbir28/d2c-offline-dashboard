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500" b="1" i="0">
                <a:solidFill>
                  <a:srgbClr val="224C38"/>
                </a:solidFill>
                <a:latin typeface="Trebuchet MS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68580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500" b="1" i="0">
                <a:solidFill>
                  <a:srgbClr val="E27B58"/>
                </a:solidFill>
                <a:latin typeface="Trebuchet MS"/>
              </a:rPr>
              <a:t>DRIP.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4572000" cy="45720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1012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24C38"/>
                </a:solidFill>
                <a:latin typeface="Trebuchet MS"/>
              </a:rPr>
              <a:t>GROWTH STRATEGY  ·  CEO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85615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Arial"/>
              </a:rPr>
              <a:t>Audit-backed roadmap to turn ₹90L/month in ad spend
into a profitable, compounding growth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5760"/>
            <a:ext cx="4023360" cy="60350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365760"/>
            <a:ext cx="402336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7315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CURRENT AD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969264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₹90L/mo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44752"/>
            <a:ext cx="3291840" cy="1371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CURRENT AD ROAS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20824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27B58"/>
                </a:solidFill>
                <a:latin typeface="Trebuchet MS"/>
              </a:rPr>
              <a:t>1.8×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496312"/>
            <a:ext cx="3291840" cy="1371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834639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TARGET AD 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72383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BB055"/>
                </a:solidFill>
                <a:latin typeface="Trebuchet MS"/>
              </a:rPr>
              <a:t>3.2×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547872"/>
            <a:ext cx="3291840" cy="1371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88620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TARGET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23944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₹4.32 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599432"/>
            <a:ext cx="3291840" cy="1371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5486400"/>
            <a:ext cx="32918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532120"/>
            <a:ext cx="3291840" cy="548640"/>
          </a:xfrm>
          <a:prstGeom prst="rect">
            <a:avLst/>
          </a:prstGeom>
          <a:noFill/>
        </p:spPr>
        <p:txBody>
          <a:bodyPr wrap="square" tIns="36576" rIns="0" bIns="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Arial"/>
              </a:rPr>
              <a:t>Strategic Partner: Marin Istanovic
Media Model: Creative-Led Broad Targeting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META ADS LIBRARY AUDIT — CHAPTER 2 DRIP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What the brand is actually running right now — and what's broken in the performance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703320" cy="45720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BB055"/>
                </a:solidFill>
                <a:latin typeface="Trebuchet MS"/>
              </a:rPr>
              <a:t>WHAT THEY'RE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3429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Bundle pack deals (Trio Pack ₹5,780 · Cargo combos ₹2,999)
Earth-tone colorways — heavy focus on Olive, Rust, Brown
7 variations of the SAME copy running simultaneously
Price anchoring ('₹3,990 Combo') used as the main hook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1887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703320" cy="45720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801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BB055"/>
                </a:solidFill>
                <a:latin typeface="Trebuchet MS"/>
              </a:rPr>
              <a:t>HOW THEY'RE SAYING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27632"/>
            <a:ext cx="3429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'Earthy fix with the Olive Raasta &amp; Brown Munde Pack'
'Utility-inspired cargo with washed olive finish'
'Built for comfort and style — works for any occasion'
Product specifications as copy. No hook, no emotion.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703320" cy="45720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801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BB055"/>
                </a:solidFill>
                <a:latin typeface="Trebuchet MS"/>
              </a:rPr>
              <a:t>WHAT FORMAT / CREATIVE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27632"/>
            <a:ext cx="3429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Static flat-lays &amp; model images — zero video detected
Multiple ad variations testing the exact same headline
Direct price CTA: 'Shop Now for ₹3,990'
No UGC, no creator content, no streetwear lifestyle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01568"/>
            <a:ext cx="1146017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930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224C38"/>
                </a:solidFill>
                <a:latin typeface="Trebuchet MS"/>
              </a:rPr>
              <a:t>6 CRITICAL PERFORMANCE GAPS IN CURRENT AD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22191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22191"/>
            <a:ext cx="3703320" cy="41148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13631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224C38"/>
                </a:solidFill>
                <a:latin typeface="Trebuchet MS"/>
              </a:rPr>
              <a:t>NO HOOK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06239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Ad copy opens with product name/color, not an engaging hook.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822191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822191"/>
            <a:ext cx="3703320" cy="41148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13631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7 VERSIONS, 1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06239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Testing volume rather than core creative/messaging diversity.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22191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822191"/>
            <a:ext cx="3703320" cy="411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913631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B365D"/>
                </a:solidFill>
                <a:latin typeface="Trebuchet MS"/>
              </a:rPr>
              <a:t>ZERO UGC / fit-checks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206239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No creator fit-checks, styling videos, or product hauls.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12063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120639"/>
            <a:ext cx="3703320" cy="411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12079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Trebuchet MS"/>
              </a:rPr>
              <a:t>NO SCARCITY MECHANICS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504687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Ads run indefinitely with no drop FOMO or urgency hooks.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512063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5120639"/>
            <a:ext cx="3703320" cy="41148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5212079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NO VIDEO CREATIVE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04687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Zero video ads or motion graphics running in active library.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120639"/>
            <a:ext cx="370332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5120639"/>
            <a:ext cx="3703320" cy="41148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5212079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224C38"/>
                </a:solidFill>
                <a:latin typeface="Trebuchet MS"/>
              </a:rPr>
              <a:t>NO TRUST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504687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No customer reviews, badges, or social proof on creatives.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THE FIX — CREATIVE-LED BROAD TARGETING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One campaign. No interest or location stacking. The creative IS the targeting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52144"/>
            <a:ext cx="11460175" cy="512064"/>
          </a:xfrm>
          <a:prstGeom prst="roundRect">
            <a:avLst>
              <a:gd name="adj" fmla="val 4000"/>
            </a:avLst>
          </a:prstGeom>
          <a:solidFill>
            <a:srgbClr val="F0ECE4"/>
          </a:solidFill>
          <a:ln w="101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52144"/>
            <a:ext cx="64008" cy="5120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52728"/>
            <a:ext cx="1109441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1B365D"/>
                </a:solidFill>
                <a:latin typeface="Trebuchet MS"/>
              </a:rPr>
              <a:t>“Stop targeting interests. Start targeting with creatives. Broad + Advantage+ Shopping Campaign.” — Marin Istanovic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47088"/>
            <a:ext cx="201168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47088"/>
            <a:ext cx="2011680" cy="50292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568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24C38"/>
                </a:solidFill>
                <a:latin typeface="Trebuchet MS"/>
              </a:rPr>
              <a:t>1 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Pick ONE angle.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23160" y="2450592"/>
            <a:ext cx="146304" cy="201168"/>
          </a:xfrm>
          <a:prstGeom prst="rightArrow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15184" y="1847088"/>
            <a:ext cx="201168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5184" y="1847088"/>
            <a:ext cx="2011680" cy="502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9568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65D"/>
                </a:solidFill>
                <a:latin typeface="Trebuchet MS"/>
              </a:rPr>
              <a:t>2  PRODUCE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23774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10–15 UGC clips.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72584" y="2450592"/>
            <a:ext cx="146304" cy="201168"/>
          </a:xfrm>
          <a:prstGeom prst="rightArrow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64608" y="1847088"/>
            <a:ext cx="201168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4608" y="1847088"/>
            <a:ext cx="2011680" cy="502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19568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Trebuchet MS"/>
              </a:rPr>
              <a:t>3 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3774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1 ASC+ campaign.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22008" y="2450592"/>
            <a:ext cx="146304" cy="201168"/>
          </a:xfrm>
          <a:prstGeom prst="rightArrow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14032" y="1847088"/>
            <a:ext cx="201168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14032" y="1847088"/>
            <a:ext cx="2011680" cy="50292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19568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27B58"/>
                </a:solidFill>
                <a:latin typeface="Trebuchet MS"/>
              </a:rPr>
              <a:t>4  JUDGE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3774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72-hour rule.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71432" y="2450592"/>
            <a:ext cx="146304" cy="201168"/>
          </a:xfrm>
          <a:prstGeom prst="rightArrow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63456" y="1847088"/>
            <a:ext cx="201168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63456" y="1847088"/>
            <a:ext cx="2011680" cy="50292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95681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24C38"/>
                </a:solidFill>
                <a:latin typeface="Trebuchet MS"/>
              </a:rPr>
              <a:t>5 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23774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  <a:latin typeface="Arial"/>
              </a:rPr>
              <a:t>Winners get 5×.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401568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401568"/>
            <a:ext cx="5394960" cy="50292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52958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E27B58"/>
                </a:solidFill>
                <a:latin typeface="Trebuchet MS"/>
              </a:rPr>
              <a:t>THE 72-HOUR PERFORMANCE RULE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13632"/>
            <a:ext cx="5029200" cy="365760"/>
          </a:xfrm>
          <a:prstGeom prst="rect">
            <a:avLst/>
          </a:prstGeom>
          <a:solidFill>
            <a:srgbClr val="F0ECE4"/>
          </a:solidFill>
          <a:ln w="381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986784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Hook Rate &lt; 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27B58"/>
                </a:solidFill>
                <a:latin typeface="Trebuchet MS"/>
              </a:rPr>
              <a:t>Kill immediately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52544"/>
            <a:ext cx="5029200" cy="365760"/>
          </a:xfrm>
          <a:prstGeom prst="rect">
            <a:avLst/>
          </a:prstGeom>
          <a:solidFill>
            <a:srgbClr val="F0ECE4"/>
          </a:solidFill>
          <a:ln w="381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425696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Spend &gt; ₹3K, ROAS &lt; 2.0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42569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27B58"/>
                </a:solidFill>
                <a:latin typeface="Trebuchet MS"/>
              </a:rPr>
              <a:t>Kill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791456"/>
            <a:ext cx="5029200" cy="365760"/>
          </a:xfrm>
          <a:prstGeom prst="rect">
            <a:avLst/>
          </a:prstGeom>
          <a:solidFill>
            <a:srgbClr val="F0ECE4"/>
          </a:solidFill>
          <a:ln w="381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864608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CPM ↑ + CTR 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48646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27B58"/>
                </a:solidFill>
                <a:latin typeface="Trebuchet MS"/>
              </a:rPr>
              <a:t>Rewrite the hook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230368"/>
            <a:ext cx="5029200" cy="365760"/>
          </a:xfrm>
          <a:prstGeom prst="rect">
            <a:avLst/>
          </a:prstGeom>
          <a:solidFill>
            <a:srgbClr val="F0ECE4"/>
          </a:solidFill>
          <a:ln w="381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303520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ROAS 2.0–3.0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30352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BB055"/>
                </a:solidFill>
                <a:latin typeface="Trebuchet MS"/>
              </a:rPr>
              <a:t>Keep — 5 more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669280"/>
            <a:ext cx="5029200" cy="365760"/>
          </a:xfrm>
          <a:prstGeom prst="rect">
            <a:avLst/>
          </a:prstGeom>
          <a:solidFill>
            <a:srgbClr val="F0ECE4"/>
          </a:solidFill>
          <a:ln w="381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574243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Arial"/>
              </a:rPr>
              <a:t>ROAS &gt; 3.2×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74243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224C38"/>
                </a:solidFill>
                <a:latin typeface="Trebuchet MS"/>
              </a:rPr>
              <a:t>Scale budget 5×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80760" y="3401568"/>
            <a:ext cx="5742432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80760" y="3401568"/>
            <a:ext cx="5742432" cy="50292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52958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224C38"/>
                </a:solidFill>
                <a:latin typeface="Trebuchet MS"/>
              </a:rPr>
              <a:t>7 NARRATIVE ANGLES TO TEST</a:t>
            </a:r>
          </a:p>
        </p:txBody>
      </p:sp>
      <p:sp>
        <p:nvSpPr>
          <p:cNvPr id="57" name="Oval 56"/>
          <p:cNvSpPr/>
          <p:nvPr/>
        </p:nvSpPr>
        <p:spPr>
          <a:xfrm>
            <a:off x="6263640" y="3922776"/>
            <a:ext cx="182880" cy="182880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38770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224C38"/>
                </a:solidFill>
                <a:latin typeface="Trebuchet MS"/>
              </a:rPr>
              <a:t>#1  Scarcity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387705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'500 units · Drop 02 · Never Restocked.'</a:t>
            </a:r>
          </a:p>
        </p:txBody>
      </p:sp>
      <p:sp>
        <p:nvSpPr>
          <p:cNvPr id="60" name="Oval 59"/>
          <p:cNvSpPr/>
          <p:nvPr/>
        </p:nvSpPr>
        <p:spPr>
          <a:xfrm>
            <a:off x="6263640" y="4279392"/>
            <a:ext cx="182880" cy="18288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4233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B365D"/>
                </a:solidFill>
                <a:latin typeface="Trebuchet MS"/>
              </a:rPr>
              <a:t>#2  Spec-led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423367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'240 GSM heavy French Terry · Puff Print.'</a:t>
            </a:r>
          </a:p>
        </p:txBody>
      </p:sp>
      <p:sp>
        <p:nvSpPr>
          <p:cNvPr id="63" name="Oval 62"/>
          <p:cNvSpPr/>
          <p:nvPr/>
        </p:nvSpPr>
        <p:spPr>
          <a:xfrm>
            <a:off x="6263640" y="4636008"/>
            <a:ext cx="182880" cy="182880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4590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#3  Combo Pack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459028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'Trio Pack — get any 3 shirts &amp; save ₹1,790.'</a:t>
            </a:r>
          </a:p>
        </p:txBody>
      </p:sp>
      <p:sp>
        <p:nvSpPr>
          <p:cNvPr id="66" name="Oval 65"/>
          <p:cNvSpPr/>
          <p:nvPr/>
        </p:nvSpPr>
        <p:spPr>
          <a:xfrm>
            <a:off x="6263640" y="4992624"/>
            <a:ext cx="182880" cy="182880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49469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#4  Comfort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60" y="4946904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'Worn once. Immediately ordered again.'</a:t>
            </a:r>
          </a:p>
        </p:txBody>
      </p:sp>
      <p:sp>
        <p:nvSpPr>
          <p:cNvPr id="69" name="Oval 68"/>
          <p:cNvSpPr/>
          <p:nvPr/>
        </p:nvSpPr>
        <p:spPr>
          <a:xfrm>
            <a:off x="6263640" y="5349240"/>
            <a:ext cx="182880" cy="1828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5303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Trebuchet MS"/>
              </a:rPr>
              <a:t>#5  Identity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530352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'Not everyone gets the backprint reference.'</a:t>
            </a:r>
          </a:p>
        </p:txBody>
      </p:sp>
      <p:sp>
        <p:nvSpPr>
          <p:cNvPr id="72" name="Oval 71"/>
          <p:cNvSpPr/>
          <p:nvPr/>
        </p:nvSpPr>
        <p:spPr>
          <a:xfrm>
            <a:off x="6263640" y="5705856"/>
            <a:ext cx="182880" cy="18288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56601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B365D"/>
                </a:solidFill>
                <a:latin typeface="Trebuchet MS"/>
              </a:rPr>
              <a:t>#6  Haul UGC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566013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Creator styling &amp; fit-check review video.</a:t>
            </a:r>
          </a:p>
        </p:txBody>
      </p:sp>
      <p:sp>
        <p:nvSpPr>
          <p:cNvPr id="75" name="Oval 74"/>
          <p:cNvSpPr/>
          <p:nvPr/>
        </p:nvSpPr>
        <p:spPr>
          <a:xfrm>
            <a:off x="6263640" y="6062472"/>
            <a:ext cx="182880" cy="182880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60167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#7  Hinglish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60167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  <a:latin typeface="Arial"/>
              </a:rPr>
              <a:t>'Drip level max.' Mumbai streetwear 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RETENTION — THE REVENUE THAT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Acquiring a customer costs ₹1,222. Keeping one costs only ₹240.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4 / 8</a:t>
            </a:r>
          </a:p>
        </p:txBody>
      </p:sp>
      <p:sp>
        <p:nvSpPr>
          <p:cNvPr id="9" name="Oval 8"/>
          <p:cNvSpPr/>
          <p:nvPr/>
        </p:nvSpPr>
        <p:spPr>
          <a:xfrm>
            <a:off x="2788920" y="2606040"/>
            <a:ext cx="2834640" cy="2834640"/>
          </a:xfrm>
          <a:prstGeom prst="ellipse">
            <a:avLst/>
          </a:prstGeom>
          <a:solidFill>
            <a:srgbClr val="F0ECE4"/>
          </a:solidFill>
          <a:ln w="889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59" y="3154680"/>
            <a:ext cx="1737360" cy="1737360"/>
          </a:xfrm>
          <a:prstGeom prst="ellipse">
            <a:avLst/>
          </a:prstGeom>
          <a:solidFill>
            <a:srgbClr val="224C38"/>
          </a:solidFill>
          <a:ln w="22860">
            <a:solidFill>
              <a:srgbClr val="EBB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59" y="3511296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BB055"/>
                </a:solidFill>
                <a:latin typeface="Trebuchet MS"/>
              </a:rPr>
              <a:t>GROWTH
FLYWHEEL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9020" y="119786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9020" y="1197864"/>
            <a:ext cx="1234440" cy="36576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9020" y="125272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224C38"/>
                </a:solidFill>
                <a:latin typeface="Trebuchet MS"/>
              </a:rPr>
              <a:t>ACQUIRE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15453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1st buy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0501" y="240944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90501" y="2409444"/>
            <a:ext cx="1234440" cy="3657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0501" y="246430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1B365D"/>
                </a:solidFill>
                <a:latin typeface="Trebuchet MS"/>
              </a:rPr>
              <a:t>NURTURE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501" y="275691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Post-buy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0501" y="483260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90501" y="4832604"/>
            <a:ext cx="123444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0501" y="488746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  <a:latin typeface="Trebuchet MS"/>
              </a:rPr>
              <a:t>RETAIN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501" y="518007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2nd buy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9019" y="604418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89019" y="6044184"/>
            <a:ext cx="1234440" cy="3657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9019" y="609904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27B58"/>
                </a:solidFill>
                <a:latin typeface="Trebuchet MS"/>
              </a:rPr>
              <a:t>VIP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19" y="63916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Early drop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87538" y="483260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87538" y="4832604"/>
            <a:ext cx="1234440" cy="36576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87538" y="488746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224C38"/>
                </a:solidFill>
                <a:latin typeface="Trebuchet MS"/>
              </a:rPr>
              <a:t>REFERRAL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38" y="518007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WOM Gift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87538" y="2409444"/>
            <a:ext cx="12344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87538" y="2409444"/>
            <a:ext cx="1234440" cy="36576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38" y="246430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27B58"/>
                </a:solidFill>
                <a:latin typeface="Trebuchet MS"/>
              </a:rPr>
              <a:t>WIN-BACK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38" y="275691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0F172A"/>
                </a:solidFill>
                <a:latin typeface="Arial"/>
              </a:rPr>
              <a:t>Day 60 nudge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152144"/>
            <a:ext cx="2926080" cy="5321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152144"/>
            <a:ext cx="2926080" cy="50292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1280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224C38"/>
                </a:solidFill>
                <a:latin typeface="Trebuchet MS"/>
              </a:rPr>
              <a:t>RETENTION CALENDAR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0" y="1737360"/>
            <a:ext cx="201168" cy="201168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6608" y="1700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224C38"/>
                </a:solidFill>
                <a:latin typeface="Trebuchet MS"/>
              </a:rPr>
              <a:t>Day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170078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Welcome SMS flow</a:t>
            </a:r>
          </a:p>
        </p:txBody>
      </p:sp>
      <p:sp>
        <p:nvSpPr>
          <p:cNvPr id="42" name="Oval 41"/>
          <p:cNvSpPr/>
          <p:nvPr/>
        </p:nvSpPr>
        <p:spPr>
          <a:xfrm>
            <a:off x="9144000" y="2304288"/>
            <a:ext cx="201168" cy="20116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6608" y="22677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B365D"/>
                </a:solidFill>
                <a:latin typeface="Trebuchet MS"/>
              </a:rPr>
              <a:t>Day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26771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Streetwear style guide</a:t>
            </a:r>
          </a:p>
        </p:txBody>
      </p:sp>
      <p:sp>
        <p:nvSpPr>
          <p:cNvPr id="45" name="Oval 44"/>
          <p:cNvSpPr/>
          <p:nvPr/>
        </p:nvSpPr>
        <p:spPr>
          <a:xfrm>
            <a:off x="9144000" y="2871216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36608" y="2834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Trebuchet MS"/>
              </a:rPr>
              <a:t>Day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283464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Review &amp; UGC incentive</a:t>
            </a:r>
          </a:p>
        </p:txBody>
      </p:sp>
      <p:sp>
        <p:nvSpPr>
          <p:cNvPr id="48" name="Oval 47"/>
          <p:cNvSpPr/>
          <p:nvPr/>
        </p:nvSpPr>
        <p:spPr>
          <a:xfrm>
            <a:off x="9144000" y="3438144"/>
            <a:ext cx="201168" cy="201168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8" y="340156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Day 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34015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Coord cross-sell pack</a:t>
            </a:r>
          </a:p>
        </p:txBody>
      </p:sp>
      <p:sp>
        <p:nvSpPr>
          <p:cNvPr id="51" name="Oval 50"/>
          <p:cNvSpPr/>
          <p:nvPr/>
        </p:nvSpPr>
        <p:spPr>
          <a:xfrm>
            <a:off x="9144000" y="4005072"/>
            <a:ext cx="201168" cy="201168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6608" y="396849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BB055"/>
                </a:solidFill>
                <a:latin typeface="Trebuchet MS"/>
              </a:rPr>
              <a:t>Day 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96849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Next collection VIP drop</a:t>
            </a:r>
          </a:p>
        </p:txBody>
      </p:sp>
      <p:sp>
        <p:nvSpPr>
          <p:cNvPr id="54" name="Oval 53"/>
          <p:cNvSpPr/>
          <p:nvPr/>
        </p:nvSpPr>
        <p:spPr>
          <a:xfrm>
            <a:off x="9144000" y="4572000"/>
            <a:ext cx="201168" cy="201168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608" y="45354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27B58"/>
                </a:solidFill>
                <a:latin typeface="Trebuchet MS"/>
              </a:rPr>
              <a:t>Day 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53542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Lapsed buyer win-back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THE BUSINESS CASE — BEFORE VS.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Same ₹90L media spend baseline. Smarter operations. Radically different profitability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70432"/>
            <a:ext cx="4754880" cy="53218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70432"/>
            <a:ext cx="475488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618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BB055"/>
                </a:solidFill>
                <a:latin typeface="Trebuchet MS"/>
              </a:rPr>
              <a:t>TODAY (PR-LED)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664208"/>
            <a:ext cx="4425696" cy="841248"/>
          </a:xfrm>
          <a:prstGeom prst="rect">
            <a:avLst/>
          </a:prstGeom>
          <a:solidFill>
            <a:srgbClr val="0F172A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71907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Monthly Media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975104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₹90L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0312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542032"/>
            <a:ext cx="4425696" cy="841248"/>
          </a:xfrm>
          <a:prstGeom prst="rect">
            <a:avLst/>
          </a:prstGeom>
          <a:solidFill>
            <a:srgbClr val="0F172A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9689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Ad Spend 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85292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27B58"/>
                </a:solidFill>
                <a:latin typeface="Trebuchet MS"/>
              </a:rPr>
              <a:t>1.8×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419856"/>
            <a:ext cx="4425696" cy="841248"/>
          </a:xfrm>
          <a:prstGeom prst="rect">
            <a:avLst/>
          </a:prstGeom>
          <a:solidFill>
            <a:srgbClr val="0F172A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7472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Gross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73075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₹1.62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5876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/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297680"/>
            <a:ext cx="4425696" cy="841248"/>
          </a:xfrm>
          <a:prstGeom prst="rect">
            <a:avLst/>
          </a:prstGeom>
          <a:solidFill>
            <a:srgbClr val="0F172A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52544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Average Order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60857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₹2,200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175504"/>
            <a:ext cx="4425696" cy="841248"/>
          </a:xfrm>
          <a:prstGeom prst="rect">
            <a:avLst/>
          </a:prstGeom>
          <a:solidFill>
            <a:srgbClr val="0F172A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303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Contribution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4864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27B58"/>
                </a:solidFill>
                <a:latin typeface="Trebuchet MS"/>
              </a:rPr>
              <a:t>–₹13.5L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6144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(–8.3% CM1)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1170432"/>
            <a:ext cx="4754880" cy="5321808"/>
          </a:xfrm>
          <a:prstGeom prst="roundRect">
            <a:avLst>
              <a:gd name="adj" fmla="val 4000"/>
            </a:avLst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1170432"/>
            <a:ext cx="475488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12618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BB055"/>
                </a:solidFill>
                <a:latin typeface="Trebuchet MS"/>
              </a:rPr>
              <a:t>90-DAY 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1664208"/>
            <a:ext cx="4425696" cy="841248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2" y="171907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Monthly Media Spend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1975104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₹1.35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10312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/ month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96712" y="2542032"/>
            <a:ext cx="4425696" cy="841248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88152" y="259689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Ad Spend ROAS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285292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BB055"/>
                </a:solidFill>
                <a:latin typeface="Trebuchet MS"/>
              </a:rPr>
              <a:t>3.2×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96712" y="3419856"/>
            <a:ext cx="4425696" cy="841248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152" y="347472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Gross Revenue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88152" y="373075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₹4.32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85876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/ month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4297680"/>
            <a:ext cx="4425696" cy="841248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88152" y="4352544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Average Order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88152" y="460857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₹3,200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96712" y="5175504"/>
            <a:ext cx="4425696" cy="841248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88152" y="52303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EBB055"/>
                </a:solidFill>
                <a:latin typeface="Trebuchet MS"/>
              </a:rPr>
              <a:t>Contribution Margin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88152" y="54864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BB055"/>
                </a:solidFill>
                <a:latin typeface="Trebuchet MS"/>
              </a:rPr>
              <a:t>+₹1.08 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6144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1">
                <a:solidFill>
                  <a:srgbClr val="EBB055"/>
                </a:solidFill>
                <a:latin typeface="Arial"/>
              </a:rPr>
              <a:t>(+25.0% CM1)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230368" y="3703320"/>
            <a:ext cx="411480" cy="201168"/>
          </a:xfrm>
          <a:prstGeom prst="rightArrow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3401568"/>
            <a:ext cx="4389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Trebuchet MS"/>
              </a:rPr>
              <a:t>90
DAYS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78440" y="1170432"/>
            <a:ext cx="1554480" cy="5321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131673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224C38"/>
                </a:solidFill>
                <a:latin typeface="Trebuchet MS"/>
              </a:rPr>
              <a:t>GROWTH
LEVERS</a:t>
            </a:r>
          </a:p>
        </p:txBody>
      </p:sp>
      <p:sp>
        <p:nvSpPr>
          <p:cNvPr id="55" name="Oval 54"/>
          <p:cNvSpPr/>
          <p:nvPr/>
        </p:nvSpPr>
        <p:spPr>
          <a:xfrm>
            <a:off x="10991088" y="1920240"/>
            <a:ext cx="292608" cy="292608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78440" y="2267712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Arial"/>
              </a:rPr>
              <a:t>Creative
Velocity</a:t>
            </a:r>
          </a:p>
        </p:txBody>
      </p:sp>
      <p:sp>
        <p:nvSpPr>
          <p:cNvPr id="57" name="Oval 56"/>
          <p:cNvSpPr/>
          <p:nvPr/>
        </p:nvSpPr>
        <p:spPr>
          <a:xfrm>
            <a:off x="10991088" y="2798064"/>
            <a:ext cx="292608" cy="29260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3145536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Arial"/>
              </a:rPr>
              <a:t>AOV Packs
&amp; Bundles</a:t>
            </a:r>
          </a:p>
        </p:txBody>
      </p:sp>
      <p:sp>
        <p:nvSpPr>
          <p:cNvPr id="59" name="Oval 58"/>
          <p:cNvSpPr/>
          <p:nvPr/>
        </p:nvSpPr>
        <p:spPr>
          <a:xfrm>
            <a:off x="10991088" y="36758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78440" y="402336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Arial"/>
              </a:rPr>
              <a:t>Retention
Flywheel</a:t>
            </a:r>
          </a:p>
        </p:txBody>
      </p:sp>
      <p:sp>
        <p:nvSpPr>
          <p:cNvPr id="61" name="Oval 60"/>
          <p:cNvSpPr/>
          <p:nvPr/>
        </p:nvSpPr>
        <p:spPr>
          <a:xfrm>
            <a:off x="10991088" y="4553712"/>
            <a:ext cx="292608" cy="292608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78440" y="4901184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Arial"/>
              </a:rPr>
              <a:t>Drop
Scarcity</a:t>
            </a:r>
          </a:p>
        </p:txBody>
      </p:sp>
      <p:sp>
        <p:nvSpPr>
          <p:cNvPr id="63" name="Oval 62"/>
          <p:cNvSpPr/>
          <p:nvPr/>
        </p:nvSpPr>
        <p:spPr>
          <a:xfrm>
            <a:off x="10991088" y="5431536"/>
            <a:ext cx="292608" cy="292608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40" y="577900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  <a:latin typeface="Arial"/>
              </a:rPr>
              <a:t>Google
Brand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WHAT COMPETITORS ARE DOING — STEAL &amp;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Four brands doing parts of it right. Real ad intelligence. Clear actions for Chapter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70432"/>
            <a:ext cx="2788920" cy="53218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70432"/>
            <a:ext cx="278892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9112" y="1243584"/>
            <a:ext cx="1005840" cy="23774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2618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0F172A"/>
                </a:solidFill>
                <a:latin typeface="Trebuchet MS"/>
              </a:rPr>
              <a:t>CULT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435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JAYWALKING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727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EBB055"/>
                </a:solidFill>
                <a:latin typeface="Arial"/>
              </a:rPr>
              <a:t>Ultra-Premium · ₹3k–₹8k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47088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EBB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47088"/>
            <a:ext cx="2514600" cy="41148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2938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Arial"/>
              </a:rPr>
              <a:t>Avg Selling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139696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₹5,500+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2752344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6974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Zero discounts ever — high price anchors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3154680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0998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Silhouette-forward photography, minimal copy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557016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5021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Designer &amp; rapper seeding, zero paid influencers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959352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044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Very low creative velocity — scarcity is the hook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86400"/>
            <a:ext cx="2788920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2788920" cy="3200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595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EBB055"/>
                </a:solidFill>
                <a:latin typeface="Trebuchet MS"/>
              </a:rPr>
              <a:t>→ STEAL &amp; ADAPT FOR 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79008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Run product SILHOUETTE ads, not story ads. Let the design print and shape speak for itself.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4408" y="1170432"/>
            <a:ext cx="2788920" cy="5321808"/>
          </a:xfrm>
          <a:prstGeom prst="roundRect">
            <a:avLst>
              <a:gd name="adj" fmla="val 4000"/>
            </a:avLst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64408" y="1170432"/>
            <a:ext cx="278892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0" y="1243584"/>
            <a:ext cx="1005840" cy="23774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12618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E27B58"/>
                </a:solidFill>
                <a:latin typeface="Trebuchet MS"/>
              </a:rPr>
              <a:t>DROP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12435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BLUORNG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15727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EBB055"/>
                </a:solidFill>
                <a:latin typeface="Arial"/>
              </a:rPr>
              <a:t>Premium · ₹3.5k–₹7k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1847088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E27B58"/>
          </a:solidFill>
          <a:ln w="10160">
            <a:solidFill>
              <a:srgbClr val="EBB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01568" y="1847088"/>
            <a:ext cx="2514600" cy="41148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192938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Arial"/>
              </a:rPr>
              <a:t>Repeat Buy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2139696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35%+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2752344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48456" y="26974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Never-restock model: drop countdowns in ads</a:t>
            </a:r>
          </a:p>
        </p:txBody>
      </p:sp>
      <p:sp>
        <p:nvSpPr>
          <p:cNvPr id="43" name="Oval 42"/>
          <p:cNvSpPr/>
          <p:nvPr/>
        </p:nvSpPr>
        <p:spPr>
          <a:xfrm>
            <a:off x="3401568" y="3154680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48456" y="30998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Fabric texture close-ups: GSM &amp; puff print detail</a:t>
            </a:r>
          </a:p>
        </p:txBody>
      </p:sp>
      <p:sp>
        <p:nvSpPr>
          <p:cNvPr id="45" name="Oval 44"/>
          <p:cNvSpPr/>
          <p:nvPr/>
        </p:nvSpPr>
        <p:spPr>
          <a:xfrm>
            <a:off x="3401568" y="3557016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48456" y="35021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FOMO copy: 'This colorway will not return'</a:t>
            </a:r>
          </a:p>
        </p:txBody>
      </p:sp>
      <p:sp>
        <p:nvSpPr>
          <p:cNvPr id="47" name="Oval 46"/>
          <p:cNvSpPr/>
          <p:nvPr/>
        </p:nvSpPr>
        <p:spPr>
          <a:xfrm>
            <a:off x="3401568" y="3959352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48456" y="39044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Heavy Meta Advantage+ Catalog retargeting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4408" y="5486400"/>
            <a:ext cx="278892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64408" y="5486400"/>
            <a:ext cx="2788920" cy="3200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1568" y="55595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EBB055"/>
                </a:solidFill>
                <a:latin typeface="Trebuchet MS"/>
              </a:rPr>
              <a:t>→ STEAL &amp; ADAPT FOR C2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01568" y="5779008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Add drop code to ads: 'Drop 02 · 500 units available · Never Restocked.'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63056" y="1170432"/>
            <a:ext cx="2788920" cy="5321808"/>
          </a:xfrm>
          <a:prstGeom prst="roundRect">
            <a:avLst>
              <a:gd name="adj" fmla="val 4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3056" y="1170432"/>
            <a:ext cx="278892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36408" y="1243584"/>
            <a:ext cx="1005840" cy="23774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36408" y="12618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1B365D"/>
                </a:solidFill>
                <a:latin typeface="Trebuchet MS"/>
              </a:rPr>
              <a:t>VOLUME 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0216" y="12435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SNITCH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15727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EBB055"/>
                </a:solidFill>
                <a:latin typeface="Arial"/>
              </a:rPr>
              <a:t>Fast Fashion · ₹999–₹1.9k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0216" y="1847088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1B365D"/>
          </a:solidFill>
          <a:ln w="10160">
            <a:solidFill>
              <a:srgbClr val="EBB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0216" y="1847088"/>
            <a:ext cx="2514600" cy="41148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0216" y="192938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Arial"/>
              </a:rPr>
              <a:t>Weekly Creatives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139696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30+</a:t>
            </a:r>
          </a:p>
        </p:txBody>
      </p:sp>
      <p:sp>
        <p:nvSpPr>
          <p:cNvPr id="63" name="Oval 62"/>
          <p:cNvSpPr/>
          <p:nvPr/>
        </p:nvSpPr>
        <p:spPr>
          <a:xfrm>
            <a:off x="6300216" y="2752344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47104" y="26974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Advantage+ Shopping Campaigns (ASC+) broad focus</a:t>
            </a:r>
          </a:p>
        </p:txBody>
      </p:sp>
      <p:sp>
        <p:nvSpPr>
          <p:cNvPr id="65" name="Oval 64"/>
          <p:cNvSpPr/>
          <p:nvPr/>
        </p:nvSpPr>
        <p:spPr>
          <a:xfrm>
            <a:off x="6300216" y="3154680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47104" y="30998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30+ new ad variations shipped weekly to the feed</a:t>
            </a:r>
          </a:p>
        </p:txBody>
      </p:sp>
      <p:sp>
        <p:nvSpPr>
          <p:cNvPr id="67" name="Oval 66"/>
          <p:cNvSpPr/>
          <p:nvPr/>
        </p:nvSpPr>
        <p:spPr>
          <a:xfrm>
            <a:off x="6300216" y="3557016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47104" y="35021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Fast-cut vertical reels &amp; meme-based hooks</a:t>
            </a:r>
          </a:p>
        </p:txBody>
      </p:sp>
      <p:sp>
        <p:nvSpPr>
          <p:cNvPr id="69" name="Oval 68"/>
          <p:cNvSpPr/>
          <p:nvPr/>
        </p:nvSpPr>
        <p:spPr>
          <a:xfrm>
            <a:off x="6300216" y="3959352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47104" y="39044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Google PMax running alongside Meta broad scale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63056" y="5486400"/>
            <a:ext cx="278892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63056" y="5486400"/>
            <a:ext cx="2788920" cy="3200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0216" y="55595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EBB055"/>
                </a:solidFill>
                <a:latin typeface="Trebuchet MS"/>
              </a:rPr>
              <a:t>→ STEAL &amp; ADAPT FOR C2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5779008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Set up 1 ASC+ campaign. Partner with agency to ship 10 new UGC creatives weekly.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61704" y="1170432"/>
            <a:ext cx="2788920" cy="5321808"/>
          </a:xfrm>
          <a:prstGeom prst="roundRect">
            <a:avLst>
              <a:gd name="adj" fmla="val 4000"/>
            </a:avLst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61704" y="1170432"/>
            <a:ext cx="278892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735056" y="1243584"/>
            <a:ext cx="1005840" cy="23774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35056" y="12618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224C38"/>
                </a:solidFill>
                <a:latin typeface="Trebuchet MS"/>
              </a:rPr>
              <a:t>UGC ENGINE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98864" y="12435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BONKERS CORNER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98864" y="15727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EBB055"/>
                </a:solidFill>
                <a:latin typeface="Arial"/>
              </a:rPr>
              <a:t>Affordable · ₹799–₹1.5k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98864" y="1847088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224C38"/>
          </a:solidFill>
          <a:ln w="10160">
            <a:solidFill>
              <a:srgbClr val="EBB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98864" y="1847088"/>
            <a:ext cx="2514600" cy="41148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98864" y="192938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Arial"/>
              </a:rPr>
              <a:t>Monthly UGC Videos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98864" y="2139696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50+</a:t>
            </a:r>
          </a:p>
        </p:txBody>
      </p:sp>
      <p:sp>
        <p:nvSpPr>
          <p:cNvPr id="85" name="Oval 84"/>
          <p:cNvSpPr/>
          <p:nvPr/>
        </p:nvSpPr>
        <p:spPr>
          <a:xfrm>
            <a:off x="9198864" y="2752344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45752" y="26974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College influencer hauls — low cost, high trust</a:t>
            </a:r>
          </a:p>
        </p:txBody>
      </p:sp>
      <p:sp>
        <p:nvSpPr>
          <p:cNvPr id="87" name="Oval 86"/>
          <p:cNvSpPr/>
          <p:nvPr/>
        </p:nvSpPr>
        <p:spPr>
          <a:xfrm>
            <a:off x="9198864" y="3154680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45752" y="30998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Relatable hooks: 'POV: your wallet after this haul'</a:t>
            </a:r>
          </a:p>
        </p:txBody>
      </p:sp>
      <p:sp>
        <p:nvSpPr>
          <p:cNvPr id="89" name="Oval 88"/>
          <p:cNvSpPr/>
          <p:nvPr/>
        </p:nvSpPr>
        <p:spPr>
          <a:xfrm>
            <a:off x="9198864" y="3557016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45752" y="35021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Heavy Snapchat story ads for younger cohorts</a:t>
            </a:r>
          </a:p>
        </p:txBody>
      </p:sp>
      <p:sp>
        <p:nvSpPr>
          <p:cNvPr id="91" name="Oval 90"/>
          <p:cNvSpPr/>
          <p:nvPr/>
        </p:nvSpPr>
        <p:spPr>
          <a:xfrm>
            <a:off x="9198864" y="3959352"/>
            <a:ext cx="164592" cy="164592"/>
          </a:xfrm>
          <a:prstGeom prst="ellipse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45752" y="39044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Organic video virality boosted with paid ad spend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61704" y="5486400"/>
            <a:ext cx="278892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61704" y="5486400"/>
            <a:ext cx="2788920" cy="3200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98864" y="55595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EBB055"/>
                </a:solidFill>
                <a:latin typeface="Trebuchet MS"/>
              </a:rPr>
              <a:t>→ STEAL &amp; ADAPT FOR C2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98864" y="5779008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Haul-format reels showing fits. Maintain premium vibes — no humor, just street aesthetics.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90-DAY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1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EBB055"/>
                </a:solidFill>
                <a:latin typeface="Arial"/>
              </a:rPr>
              <a:t>Three focused sprints. One profitable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7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023360"/>
            <a:ext cx="11338560" cy="36576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3675887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3675887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B365D"/>
                </a:solidFill>
                <a:latin typeface="Trebuchet MS"/>
              </a:rPr>
              <a:t>MONTH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72768"/>
            <a:ext cx="36758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Trebuchet MS"/>
              </a:rPr>
              <a:t>FIX THE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20240"/>
            <a:ext cx="3310127" cy="22860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" y="2039112"/>
            <a:ext cx="164592" cy="16459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93392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Advantage+ broad focus - zero interest stack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" y="2386584"/>
            <a:ext cx="164592" cy="16459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40864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Onboard 20 streetwear creators (10 UGC/wk)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" y="2734056"/>
            <a:ext cx="164592" cy="16459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688336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Day-0 to Day-90 automated retention flows</a:t>
            </a:r>
          </a:p>
        </p:txBody>
      </p:sp>
      <p:sp>
        <p:nvSpPr>
          <p:cNvPr id="21" name="Oval 20"/>
          <p:cNvSpPr/>
          <p:nvPr/>
        </p:nvSpPr>
        <p:spPr>
          <a:xfrm>
            <a:off x="576072" y="3081528"/>
            <a:ext cx="164592" cy="16459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35808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Google Brand Search campaign launched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" y="3429000"/>
            <a:ext cx="164592" cy="16459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83280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Shopify PDP checkout and bundle builder updates</a:t>
            </a:r>
          </a:p>
        </p:txBody>
      </p:sp>
      <p:sp>
        <p:nvSpPr>
          <p:cNvPr id="25" name="Oval 24"/>
          <p:cNvSpPr/>
          <p:nvPr/>
        </p:nvSpPr>
        <p:spPr>
          <a:xfrm>
            <a:off x="2066543" y="3840480"/>
            <a:ext cx="365760" cy="36576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66543" y="387705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279392"/>
            <a:ext cx="3675887" cy="594360"/>
          </a:xfrm>
          <a:prstGeom prst="roundRect">
            <a:avLst>
              <a:gd name="adj" fmla="val 4000"/>
            </a:avLst>
          </a:prstGeom>
          <a:solidFill>
            <a:srgbClr val="F0ECE4"/>
          </a:solidFill>
          <a:ln w="63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352544"/>
            <a:ext cx="367588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1">
                <a:solidFill>
                  <a:srgbClr val="1B365D"/>
                </a:solidFill>
                <a:latin typeface="Arial"/>
              </a:rPr>
              <a:t>ASC+ live · Retention active · UGC pipeline running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59" y="1170432"/>
            <a:ext cx="3675887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1170432"/>
            <a:ext cx="3675887" cy="54864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59" y="1261872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E27B58"/>
                </a:solidFill>
                <a:latin typeface="Trebuchet MS"/>
              </a:rPr>
              <a:t>MONTH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59" y="1572768"/>
            <a:ext cx="36758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Trebuchet MS"/>
              </a:rPr>
              <a:t>SCALE WINNERS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39" y="1920240"/>
            <a:ext cx="3310127" cy="22860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6551" y="2039112"/>
            <a:ext cx="164592" cy="164592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39" y="1993392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5× budget on ROAS &gt; 3.2× active creatives</a:t>
            </a:r>
          </a:p>
        </p:txBody>
      </p:sp>
      <p:sp>
        <p:nvSpPr>
          <p:cNvPr id="36" name="Oval 35"/>
          <p:cNvSpPr/>
          <p:nvPr/>
        </p:nvSpPr>
        <p:spPr>
          <a:xfrm>
            <a:off x="4416551" y="2386584"/>
            <a:ext cx="164592" cy="164592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39" y="2340864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Kill all ad variations under 25% hook rate</a:t>
            </a:r>
          </a:p>
        </p:txBody>
      </p:sp>
      <p:sp>
        <p:nvSpPr>
          <p:cNvPr id="38" name="Oval 37"/>
          <p:cNvSpPr/>
          <p:nvPr/>
        </p:nvSpPr>
        <p:spPr>
          <a:xfrm>
            <a:off x="4416551" y="2734056"/>
            <a:ext cx="164592" cy="164592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39" y="2688336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Meta catalog DPA dynamic carousels live</a:t>
            </a:r>
          </a:p>
        </p:txBody>
      </p:sp>
      <p:sp>
        <p:nvSpPr>
          <p:cNvPr id="40" name="Oval 39"/>
          <p:cNvSpPr/>
          <p:nvPr/>
        </p:nvSpPr>
        <p:spPr>
          <a:xfrm>
            <a:off x="4416551" y="3081528"/>
            <a:ext cx="164592" cy="164592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39" y="3035808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VIP drop early-access email/SMS blasts</a:t>
            </a:r>
          </a:p>
        </p:txBody>
      </p:sp>
      <p:sp>
        <p:nvSpPr>
          <p:cNvPr id="42" name="Oval 41"/>
          <p:cNvSpPr/>
          <p:nvPr/>
        </p:nvSpPr>
        <p:spPr>
          <a:xfrm>
            <a:off x="4416551" y="3429000"/>
            <a:ext cx="164592" cy="164592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39" y="3383280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PDP A/B tests: single item vs. bundle sets</a:t>
            </a:r>
          </a:p>
        </p:txBody>
      </p:sp>
      <p:sp>
        <p:nvSpPr>
          <p:cNvPr id="44" name="Oval 43"/>
          <p:cNvSpPr/>
          <p:nvPr/>
        </p:nvSpPr>
        <p:spPr>
          <a:xfrm>
            <a:off x="5907022" y="3840480"/>
            <a:ext cx="365760" cy="365760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2" y="387705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59" y="4279392"/>
            <a:ext cx="3675887" cy="594360"/>
          </a:xfrm>
          <a:prstGeom prst="roundRect">
            <a:avLst>
              <a:gd name="adj" fmla="val 4000"/>
            </a:avLst>
          </a:prstGeom>
          <a:solidFill>
            <a:srgbClr val="F0ECE4"/>
          </a:solidFill>
          <a:ln w="6350">
            <a:solidFill>
              <a:srgbClr val="E27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59" y="4352544"/>
            <a:ext cx="367588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1">
                <a:solidFill>
                  <a:srgbClr val="E27B58"/>
                </a:solidFill>
                <a:latin typeface="Arial"/>
              </a:rPr>
              <a:t>2-3 scaling creatives · AOV ₹2,800+ · DPAs active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38" y="1170432"/>
            <a:ext cx="3675887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38" y="1170432"/>
            <a:ext cx="3675887" cy="54864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2438" y="1261872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224C38"/>
                </a:solidFill>
                <a:latin typeface="Trebuchet M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38" y="1572768"/>
            <a:ext cx="367588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  <a:latin typeface="Trebuchet MS"/>
              </a:rPr>
              <a:t>COMPOUND &amp; RETAIN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8" y="1920240"/>
            <a:ext cx="3310127" cy="22860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57030" y="2039112"/>
            <a:ext cx="164592" cy="164592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8" y="1993392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Cross-sell SMS automation: Day-14 post-buy</a:t>
            </a:r>
          </a:p>
        </p:txBody>
      </p:sp>
      <p:sp>
        <p:nvSpPr>
          <p:cNvPr id="55" name="Oval 54"/>
          <p:cNvSpPr/>
          <p:nvPr/>
        </p:nvSpPr>
        <p:spPr>
          <a:xfrm>
            <a:off x="8257030" y="2386584"/>
            <a:ext cx="164592" cy="164592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8" y="2340864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Referral engine: get ₹200, give ₹200</a:t>
            </a:r>
          </a:p>
        </p:txBody>
      </p:sp>
      <p:sp>
        <p:nvSpPr>
          <p:cNvPr id="57" name="Oval 56"/>
          <p:cNvSpPr/>
          <p:nvPr/>
        </p:nvSpPr>
        <p:spPr>
          <a:xfrm>
            <a:off x="8257030" y="2734056"/>
            <a:ext cx="164592" cy="164592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8" y="2688336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Win-back automated loop for 60-day lapsed</a:t>
            </a:r>
          </a:p>
        </p:txBody>
      </p:sp>
      <p:sp>
        <p:nvSpPr>
          <p:cNvPr id="59" name="Oval 58"/>
          <p:cNvSpPr/>
          <p:nvPr/>
        </p:nvSpPr>
        <p:spPr>
          <a:xfrm>
            <a:off x="8257030" y="3081528"/>
            <a:ext cx="164592" cy="164592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18" y="3035808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Test localized Hinglish reels hooks (Mumbai/Delhi)</a:t>
            </a:r>
          </a:p>
        </p:txBody>
      </p:sp>
      <p:sp>
        <p:nvSpPr>
          <p:cNvPr id="61" name="Oval 60"/>
          <p:cNvSpPr/>
          <p:nvPr/>
        </p:nvSpPr>
        <p:spPr>
          <a:xfrm>
            <a:off x="8257030" y="3429000"/>
            <a:ext cx="164592" cy="164592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18" y="3383280"/>
            <a:ext cx="308152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ROAS audit: blend search &amp; paid at target ≥ 3.2×</a:t>
            </a:r>
          </a:p>
        </p:txBody>
      </p:sp>
      <p:sp>
        <p:nvSpPr>
          <p:cNvPr id="63" name="Oval 62"/>
          <p:cNvSpPr/>
          <p:nvPr/>
        </p:nvSpPr>
        <p:spPr>
          <a:xfrm>
            <a:off x="9747501" y="3840480"/>
            <a:ext cx="365760" cy="365760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47501" y="387705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92438" y="4279392"/>
            <a:ext cx="3675887" cy="594360"/>
          </a:xfrm>
          <a:prstGeom prst="roundRect">
            <a:avLst>
              <a:gd name="adj" fmla="val 4000"/>
            </a:avLst>
          </a:prstGeom>
          <a:solidFill>
            <a:srgbClr val="F0ECE4"/>
          </a:solidFill>
          <a:ln w="6350">
            <a:solidFill>
              <a:srgbClr val="224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92438" y="4352544"/>
            <a:ext cx="367588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1">
                <a:solidFill>
                  <a:srgbClr val="224C38"/>
                </a:solidFill>
                <a:latin typeface="Arial"/>
              </a:rPr>
              <a:t>ROAS 3.2× · CM1 +ve · Repeat 20%+ · LTV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" cy="6858000"/>
          </a:xfrm>
          <a:prstGeom prst="rect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Trebuchet MS"/>
              </a:rPr>
              <a:t>THE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08176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  <a:latin typeface="Trebuchet MS"/>
              </a:rPr>
              <a:t>Three deliverables for scale.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97480"/>
            <a:ext cx="475488" cy="475488"/>
          </a:xfrm>
          <a:prstGeom prst="ellipse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475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Trebuchet MS"/>
              </a:rPr>
              <a:t>A creative-led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0837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Arial"/>
              </a:rPr>
              <a:t>No celebrity dependency. The creative matches and targets the buyer.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475488" cy="47548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475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Trebuchet MS"/>
              </a:rPr>
              <a:t>A retention flywheel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6849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Arial"/>
              </a:rPr>
              <a:t>Every buyer re-buys. CAC compounds down, customer lifetime value up.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17720"/>
            <a:ext cx="475488" cy="475488"/>
          </a:xfrm>
          <a:prstGeom prst="ellipse">
            <a:avLst/>
          </a:prstGeom>
          <a:solidFill>
            <a:srgbClr val="E27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475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1772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Trebuchet MS"/>
              </a:rPr>
              <a:t>ROAS 3.2× in 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2861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Arial"/>
              </a:rPr>
              <a:t>From –₹13.5L/mo margin loss to +₹1 Cr+ contribution margin.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97880"/>
            <a:ext cx="5029200" cy="36576"/>
          </a:xfrm>
          <a:prstGeom prst="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167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rial"/>
              </a:rPr>
              <a:t>CHAPTER 2 DRIP  ·  SCALE STRATEGY PRESENTATION  · 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65760"/>
            <a:ext cx="3886200" cy="6035040"/>
          </a:xfrm>
          <a:prstGeom prst="roundRect">
            <a:avLst>
              <a:gd name="adj" fmla="val 4000"/>
            </a:avLst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365760"/>
            <a:ext cx="3886200" cy="54864"/>
          </a:xfrm>
          <a:prstGeom prst="rect">
            <a:avLst/>
          </a:prstGeom>
          <a:solidFill>
            <a:srgbClr val="EBB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0292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BB055"/>
                </a:solidFill>
                <a:latin typeface="Trebuchet MS"/>
              </a:rPr>
              <a:t>WHAT THIS UNLOCKS FOR 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914400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98755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EBB055"/>
                </a:solidFill>
                <a:latin typeface="Trebuchet MS"/>
              </a:rPr>
              <a:t>₹90L → ₹1.35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35331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Ad spend scaled 1.5× with 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1755648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828800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Trebuchet MS"/>
              </a:rPr>
              <a:t>1.8× → 3.2×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1945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Meta &amp; Google blended ROAS 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596896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67004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EBB055"/>
                </a:solidFill>
                <a:latin typeface="Trebuchet MS"/>
              </a:rPr>
              <a:t>₹1.62 Cr → ₹4.32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03580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Gross monthly revenue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3438144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51129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Trebuchet MS"/>
              </a:rPr>
              <a:t>–8.3% → +25.0%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87705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Contribution Margin 1 (CM1) flip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4279392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435254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EBB055"/>
                </a:solidFill>
                <a:latin typeface="Trebuchet MS"/>
              </a:rPr>
              <a:t>&lt;10% → 25.0%+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71830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Customer repeat purchase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5120640"/>
            <a:ext cx="3886200" cy="804672"/>
          </a:xfrm>
          <a:prstGeom prst="rect">
            <a:avLst/>
          </a:prstGeom>
          <a:solidFill>
            <a:srgbClr val="224C38"/>
          </a:solidFill>
          <a:ln w="5080">
            <a:solidFill>
              <a:srgbClr val="DA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519379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Trebuchet MS"/>
              </a:rPr>
              <a:t>₹2,200 → ₹3,200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55955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EBB055"/>
                </a:solidFill>
                <a:latin typeface="Arial"/>
              </a:rPr>
              <a:t>Average Order Value (AOV) via bundle packs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A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38544"/>
            <a:ext cx="1109441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rial"/>
              </a:rPr>
              <a:t>CHAPTER 2 DRIP  ·  GROWTH &amp; ROAS STRATEGY  ·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63854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224C38"/>
                </a:solidFill>
                <a:latin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