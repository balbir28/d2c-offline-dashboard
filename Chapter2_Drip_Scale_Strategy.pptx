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45720" cy="6858000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685800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0" b="1" i="0">
                <a:solidFill>
                  <a:srgbClr val="224C38"/>
                </a:solidFill>
                <a:latin typeface="Trebuchet MS"/>
              </a:rPr>
              <a:t>CHAPTER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685800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0" b="1" i="0">
                <a:solidFill>
                  <a:srgbClr val="E27B58"/>
                </a:solidFill>
                <a:latin typeface="Trebuchet MS"/>
              </a:rPr>
              <a:t>DRIP.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54680"/>
            <a:ext cx="4572000" cy="45720"/>
          </a:xfrm>
          <a:prstGeom prst="rect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310128"/>
            <a:ext cx="685800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224C38"/>
                </a:solidFill>
                <a:latin typeface="Trebuchet MS"/>
              </a:rPr>
              <a:t>GROWTH STRATEGY  ·  CEO BRIEFING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85615"/>
            <a:ext cx="68580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1">
                <a:solidFill>
                  <a:srgbClr val="475569"/>
                </a:solidFill>
                <a:latin typeface="Arial"/>
              </a:rPr>
              <a:t>Audit-backed roadmap to turn ₹90L/month in ad spend
into a profitable, compounding growth engine.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0" y="365760"/>
            <a:ext cx="4023360" cy="603504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0" y="365760"/>
            <a:ext cx="4023360" cy="54864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73152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EBB055"/>
                </a:solidFill>
                <a:latin typeface="Trebuchet MS"/>
              </a:rPr>
              <a:t>CURRENT AD SPEND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969264"/>
            <a:ext cx="32918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Trebuchet MS"/>
              </a:rPr>
              <a:t>₹90L/mo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1444752"/>
            <a:ext cx="3291840" cy="13716"/>
          </a:xfrm>
          <a:prstGeom prst="rect">
            <a:avLst/>
          </a:prstGeom>
          <a:solidFill>
            <a:srgbClr val="E27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78308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EBB055"/>
                </a:solidFill>
                <a:latin typeface="Trebuchet MS"/>
              </a:rPr>
              <a:t>CURRENT AD ROAS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020824"/>
            <a:ext cx="32918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>
                <a:solidFill>
                  <a:srgbClr val="E27B58"/>
                </a:solidFill>
                <a:latin typeface="Trebuchet MS"/>
              </a:rPr>
              <a:t>1.8×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496312"/>
            <a:ext cx="3291840" cy="13716"/>
          </a:xfrm>
          <a:prstGeom prst="rect">
            <a:avLst/>
          </a:prstGeom>
          <a:solidFill>
            <a:srgbClr val="E27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2834639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EBB055"/>
                </a:solidFill>
                <a:latin typeface="Trebuchet MS"/>
              </a:rPr>
              <a:t>TARGET AD ROAS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072383"/>
            <a:ext cx="32918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>
                <a:solidFill>
                  <a:srgbClr val="EBB055"/>
                </a:solidFill>
                <a:latin typeface="Trebuchet MS"/>
              </a:rPr>
              <a:t>3.2×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3547872"/>
            <a:ext cx="3291840" cy="13716"/>
          </a:xfrm>
          <a:prstGeom prst="rect">
            <a:avLst/>
          </a:prstGeom>
          <a:solidFill>
            <a:srgbClr val="E27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388620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EBB055"/>
                </a:solidFill>
                <a:latin typeface="Trebuchet MS"/>
              </a:rPr>
              <a:t>TARGET REVENUE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4123944"/>
            <a:ext cx="32918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Trebuchet MS"/>
              </a:rPr>
              <a:t>₹4.32 Cr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4599432"/>
            <a:ext cx="3291840" cy="13716"/>
          </a:xfrm>
          <a:prstGeom prst="rect">
            <a:avLst/>
          </a:prstGeom>
          <a:solidFill>
            <a:srgbClr val="E27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8160" y="5486400"/>
            <a:ext cx="3291840" cy="640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38160" y="5532120"/>
            <a:ext cx="3291840" cy="548640"/>
          </a:xfrm>
          <a:prstGeom prst="rect">
            <a:avLst/>
          </a:prstGeom>
          <a:noFill/>
        </p:spPr>
        <p:txBody>
          <a:bodyPr wrap="square" tIns="36576" rIns="0" bIns="0">
            <a:spAutoFit/>
          </a:bodyPr>
          <a:lstStyle/>
          <a:p>
            <a:pPr algn="l"/>
            <a:r>
              <a:rPr sz="850" b="0" i="1">
                <a:solidFill>
                  <a:srgbClr val="FFFFFF"/>
                </a:solidFill>
                <a:latin typeface="Arial"/>
              </a:rPr>
              <a:t>Strategic Partner: Marin Istanovic
Media Model: Creative-Led Broad Targeting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91695" cy="18288"/>
          </a:xfrm>
          <a:prstGeom prst="rect">
            <a:avLst/>
          </a:prstGeom>
          <a:solidFill>
            <a:srgbClr val="DAD4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638544"/>
            <a:ext cx="1109441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Arial"/>
              </a:rPr>
              <a:t>CHAPTER 2 DRIP  ·  GROWTH &amp; ROAS STRATEGY  ·  CONFIDENTIAL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638544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224C38"/>
                </a:solidFill>
                <a:latin typeface="Arial"/>
              </a:rPr>
              <a:t>1 /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36576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Trebuchet MS"/>
              </a:rPr>
              <a:t>META ADS LIBRARY AUDIT — CHAPTER 2 DRIP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601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EBB055"/>
                </a:solidFill>
                <a:latin typeface="Arial"/>
              </a:rPr>
              <a:t>What the brand is actually running right now — and what's broken in the performance engine.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18288"/>
          </a:xfrm>
          <a:prstGeom prst="rect">
            <a:avLst/>
          </a:prstGeom>
          <a:solidFill>
            <a:srgbClr val="DAD4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38544"/>
            <a:ext cx="1109441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Arial"/>
              </a:rPr>
              <a:t>CHAPTER 2 DRIP  ·  GROWTH &amp; ROAS STRATEGY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638544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224C38"/>
                </a:solidFill>
                <a:latin typeface="Arial"/>
              </a:rPr>
              <a:t>2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3703320" cy="2103120"/>
          </a:xfrm>
          <a:prstGeom prst="roundRect">
            <a:avLst>
              <a:gd name="adj" fmla="val 4000"/>
            </a:avLst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188720"/>
            <a:ext cx="3703320" cy="45720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80160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EBB055"/>
                </a:solidFill>
                <a:latin typeface="Trebuchet MS"/>
              </a:rPr>
              <a:t>WHAT THEY'RE RUNNING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627632"/>
            <a:ext cx="34290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Bundle pack deals (Trio Pack ₹5,780 · Cargo combos ₹2,999)
Earth-tone colorways — heavy focus on Olive, Rust, Brown
7 variations of the SAME copy running simultaneously
Price anchoring ('₹3,990 Combo') used as the main hook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188720"/>
            <a:ext cx="3703320" cy="2103120"/>
          </a:xfrm>
          <a:prstGeom prst="roundRect">
            <a:avLst>
              <a:gd name="adj" fmla="val 4000"/>
            </a:avLst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188720"/>
            <a:ext cx="3703320" cy="45720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280160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EBB055"/>
                </a:solidFill>
                <a:latin typeface="Trebuchet MS"/>
              </a:rPr>
              <a:t>HOW THEY'RE SAYING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27632"/>
            <a:ext cx="34290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'Earthy fix with the Olive Raasta &amp; Brown Munde Pack'
'Utility-inspired cargo with washed olive finish'
'Built for comfort and style — works for any occasion'
Product specifications as copy. No hook, no emotion.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188720"/>
            <a:ext cx="3703320" cy="210312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188720"/>
            <a:ext cx="3703320" cy="45720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1280160"/>
            <a:ext cx="3429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EBB055"/>
                </a:solidFill>
                <a:latin typeface="Trebuchet MS"/>
              </a:rPr>
              <a:t>WHAT FORMAT / CREATIVE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1627632"/>
            <a:ext cx="34290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Arial"/>
              </a:rPr>
              <a:t>Static flat-lays &amp; model images — zero video detected
Multiple ad variations testing the exact same headline
Direct price CTA: 'Shop Now for ₹3,990'
No UGC, no creator content, no streetwear lifestyle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401568"/>
            <a:ext cx="11460175" cy="18288"/>
          </a:xfrm>
          <a:prstGeom prst="rect">
            <a:avLst/>
          </a:prstGeom>
          <a:solidFill>
            <a:srgbClr val="DAD4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49300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224C38"/>
                </a:solidFill>
                <a:latin typeface="Trebuchet MS"/>
              </a:rPr>
              <a:t>6 CRITICAL PERFORMANCE GAPS IN CURRENT AD SYSTEM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3822191"/>
            <a:ext cx="3703320" cy="12070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889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3822191"/>
            <a:ext cx="3703320" cy="41148"/>
          </a:xfrm>
          <a:prstGeom prst="rect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913631"/>
            <a:ext cx="34290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224C38"/>
                </a:solidFill>
                <a:latin typeface="Trebuchet MS"/>
              </a:rPr>
              <a:t>NO HOOK STRATEGY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206239"/>
            <a:ext cx="3429000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Arial"/>
              </a:rPr>
              <a:t>Ad copy opens with product name/color, not an engaging hook.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51960" y="3822191"/>
            <a:ext cx="3703320" cy="12070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889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51960" y="3822191"/>
            <a:ext cx="3703320" cy="41148"/>
          </a:xfrm>
          <a:prstGeom prst="rect">
            <a:avLst/>
          </a:prstGeom>
          <a:solidFill>
            <a:srgbClr val="E27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0" y="3913631"/>
            <a:ext cx="34290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E27B58"/>
                </a:solidFill>
                <a:latin typeface="Trebuchet MS"/>
              </a:rPr>
              <a:t>7 VERSIONS, 1 IDEA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206239"/>
            <a:ext cx="3429000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Arial"/>
              </a:rPr>
              <a:t>Testing volume rather than core creative/messaging diversity.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3822191"/>
            <a:ext cx="3703320" cy="12070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889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38160" y="3822191"/>
            <a:ext cx="3703320" cy="41148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3913631"/>
            <a:ext cx="34290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1B365D"/>
                </a:solidFill>
                <a:latin typeface="Trebuchet MS"/>
              </a:rPr>
              <a:t>ZERO UGC / fit-checks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4206239"/>
            <a:ext cx="3429000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Arial"/>
              </a:rPr>
              <a:t>No creator fit-checks, styling videos, or product hauls.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" y="5120639"/>
            <a:ext cx="3703320" cy="12070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889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5120639"/>
            <a:ext cx="3703320" cy="411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5212079"/>
            <a:ext cx="34290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0F172A"/>
                </a:solidFill>
                <a:latin typeface="Trebuchet MS"/>
              </a:rPr>
              <a:t>NO SCARCITY MECHANICS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504687"/>
            <a:ext cx="3429000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Arial"/>
              </a:rPr>
              <a:t>Ads run indefinitely with no drop FOMO or urgency hooks.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51960" y="5120639"/>
            <a:ext cx="3703320" cy="12070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889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51960" y="5120639"/>
            <a:ext cx="3703320" cy="41148"/>
          </a:xfrm>
          <a:prstGeom prst="rect">
            <a:avLst/>
          </a:prstGeom>
          <a:solidFill>
            <a:srgbClr val="E27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0" y="5212079"/>
            <a:ext cx="34290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E27B58"/>
                </a:solidFill>
                <a:latin typeface="Trebuchet MS"/>
              </a:rPr>
              <a:t>NO VIDEO CREATIVE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04687"/>
            <a:ext cx="3429000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Arial"/>
              </a:rPr>
              <a:t>Zero video ads or motion graphics running in active library.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138160" y="5120639"/>
            <a:ext cx="3703320" cy="12070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889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138160" y="5120639"/>
            <a:ext cx="3703320" cy="41148"/>
          </a:xfrm>
          <a:prstGeom prst="rect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75320" y="5212079"/>
            <a:ext cx="34290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224C38"/>
                </a:solidFill>
                <a:latin typeface="Trebuchet MS"/>
              </a:rPr>
              <a:t>NO TRUST SIGNALS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5320" y="5504687"/>
            <a:ext cx="3429000" cy="7498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Arial"/>
              </a:rPr>
              <a:t>No customer reviews, badges, or social proof on creatives.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36576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Trebuchet MS"/>
              </a:rPr>
              <a:t>THE FIX — CREATIVE-LED BROAD TARGETING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601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EBB055"/>
                </a:solidFill>
                <a:latin typeface="Arial"/>
              </a:rPr>
              <a:t>One campaign. No interest or location stacking. The creative IS the targeting signal.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18288"/>
          </a:xfrm>
          <a:prstGeom prst="rect">
            <a:avLst/>
          </a:prstGeom>
          <a:solidFill>
            <a:srgbClr val="DAD4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38544"/>
            <a:ext cx="1109441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Arial"/>
              </a:rPr>
              <a:t>CHAPTER 2 DRIP  ·  GROWTH &amp; ROAS STRATEGY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638544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224C38"/>
                </a:solidFill>
                <a:latin typeface="Arial"/>
              </a:rPr>
              <a:t>3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52144"/>
            <a:ext cx="11460175" cy="512064"/>
          </a:xfrm>
          <a:prstGeom prst="roundRect">
            <a:avLst>
              <a:gd name="adj" fmla="val 4000"/>
            </a:avLst>
          </a:prstGeom>
          <a:solidFill>
            <a:srgbClr val="F0ECE4"/>
          </a:solidFill>
          <a:ln w="1016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152144"/>
            <a:ext cx="64008" cy="512064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252728"/>
            <a:ext cx="1109441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0" i="1">
                <a:solidFill>
                  <a:srgbClr val="1B365D"/>
                </a:solidFill>
                <a:latin typeface="Trebuchet MS"/>
              </a:rPr>
              <a:t>“Stop targeting interests. Start targeting with creatives. Broad + Advantage+ Shopping Campaign.” — Marin Istanovic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847088"/>
            <a:ext cx="2011680" cy="1389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224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1847088"/>
            <a:ext cx="2011680" cy="50292"/>
          </a:xfrm>
          <a:prstGeom prst="rect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95681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 i="0">
                <a:solidFill>
                  <a:srgbClr val="224C38"/>
                </a:solidFill>
                <a:latin typeface="Trebuchet MS"/>
              </a:rPr>
              <a:t>1  BRIEF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377440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 i="0">
                <a:solidFill>
                  <a:srgbClr val="0F172A"/>
                </a:solidFill>
                <a:latin typeface="Arial"/>
              </a:rPr>
              <a:t>Pick ONE angle.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2423160" y="2450592"/>
            <a:ext cx="146304" cy="201168"/>
          </a:xfrm>
          <a:prstGeom prst="rightArrow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615184" y="1847088"/>
            <a:ext cx="2011680" cy="1389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15184" y="1847088"/>
            <a:ext cx="2011680" cy="5029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15184" y="195681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 i="0">
                <a:solidFill>
                  <a:srgbClr val="1B365D"/>
                </a:solidFill>
                <a:latin typeface="Trebuchet MS"/>
              </a:rPr>
              <a:t>2  PRODUCE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15184" y="2377440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 i="0">
                <a:solidFill>
                  <a:srgbClr val="0F172A"/>
                </a:solidFill>
                <a:latin typeface="Arial"/>
              </a:rPr>
              <a:t>10–15 UGC clips.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672584" y="2450592"/>
            <a:ext cx="146304" cy="201168"/>
          </a:xfrm>
          <a:prstGeom prst="rightArrow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864608" y="1847088"/>
            <a:ext cx="2011680" cy="1389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64608" y="1847088"/>
            <a:ext cx="2011680" cy="5029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64608" y="195681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 i="0">
                <a:solidFill>
                  <a:srgbClr val="0F172A"/>
                </a:solidFill>
                <a:latin typeface="Trebuchet MS"/>
              </a:rPr>
              <a:t>3  LAUNCH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64608" y="2377440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 i="0">
                <a:solidFill>
                  <a:srgbClr val="0F172A"/>
                </a:solidFill>
                <a:latin typeface="Arial"/>
              </a:rPr>
              <a:t>1 ASC+ campaign.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922008" y="2450592"/>
            <a:ext cx="146304" cy="201168"/>
          </a:xfrm>
          <a:prstGeom prst="rightArrow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114032" y="1847088"/>
            <a:ext cx="2011680" cy="1389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E27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14032" y="1847088"/>
            <a:ext cx="2011680" cy="50292"/>
          </a:xfrm>
          <a:prstGeom prst="rect">
            <a:avLst/>
          </a:prstGeom>
          <a:solidFill>
            <a:srgbClr val="E27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14032" y="195681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 i="0">
                <a:solidFill>
                  <a:srgbClr val="E27B58"/>
                </a:solidFill>
                <a:latin typeface="Trebuchet MS"/>
              </a:rPr>
              <a:t>4  JUDGE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2" y="2377440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 i="0">
                <a:solidFill>
                  <a:srgbClr val="0F172A"/>
                </a:solidFill>
                <a:latin typeface="Arial"/>
              </a:rPr>
              <a:t>72-hour rule.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9171432" y="2450592"/>
            <a:ext cx="146304" cy="201168"/>
          </a:xfrm>
          <a:prstGeom prst="rightArrow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363456" y="1847088"/>
            <a:ext cx="2011680" cy="13898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224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363456" y="1847088"/>
            <a:ext cx="2011680" cy="50292"/>
          </a:xfrm>
          <a:prstGeom prst="rect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63456" y="1956816"/>
            <a:ext cx="20116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 i="0">
                <a:solidFill>
                  <a:srgbClr val="224C38"/>
                </a:solidFill>
                <a:latin typeface="Trebuchet MS"/>
              </a:rPr>
              <a:t>5  SCALE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63456" y="2377440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 i="0">
                <a:solidFill>
                  <a:srgbClr val="0F172A"/>
                </a:solidFill>
                <a:latin typeface="Arial"/>
              </a:rPr>
              <a:t>Winners get 5×.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3401568"/>
            <a:ext cx="5394960" cy="2926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27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5760" y="3401568"/>
            <a:ext cx="5394960" cy="50292"/>
          </a:xfrm>
          <a:prstGeom prst="rect">
            <a:avLst/>
          </a:prstGeom>
          <a:solidFill>
            <a:srgbClr val="E27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3529584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E27B58"/>
                </a:solidFill>
                <a:latin typeface="Trebuchet MS"/>
              </a:rPr>
              <a:t>THE 72-HOUR PERFORMANCE RULE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913632"/>
            <a:ext cx="5029200" cy="365760"/>
          </a:xfrm>
          <a:prstGeom prst="rect">
            <a:avLst/>
          </a:prstGeom>
          <a:solidFill>
            <a:srgbClr val="F0ECE4"/>
          </a:solidFill>
          <a:ln w="381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986784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Arial"/>
              </a:rPr>
              <a:t>Hook Rate &lt; 25%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3986784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E27B58"/>
                </a:solidFill>
                <a:latin typeface="Trebuchet MS"/>
              </a:rPr>
              <a:t>Kill immediately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352544"/>
            <a:ext cx="5029200" cy="365760"/>
          </a:xfrm>
          <a:prstGeom prst="rect">
            <a:avLst/>
          </a:prstGeom>
          <a:solidFill>
            <a:srgbClr val="F0ECE4"/>
          </a:solidFill>
          <a:ln w="381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4425696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Arial"/>
              </a:rPr>
              <a:t>Spend &gt; ₹3K, ROAS &lt; 2.0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20440" y="4425696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E27B58"/>
                </a:solidFill>
                <a:latin typeface="Trebuchet MS"/>
              </a:rPr>
              <a:t>Kill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4791456"/>
            <a:ext cx="5029200" cy="365760"/>
          </a:xfrm>
          <a:prstGeom prst="rect">
            <a:avLst/>
          </a:prstGeom>
          <a:solidFill>
            <a:srgbClr val="F0ECE4"/>
          </a:solidFill>
          <a:ln w="381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4864608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Arial"/>
              </a:rPr>
              <a:t>CPM ↑ + CTR ↓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20440" y="4864608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E27B58"/>
                </a:solidFill>
                <a:latin typeface="Trebuchet MS"/>
              </a:rPr>
              <a:t>Rewrite the hook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5230368"/>
            <a:ext cx="5029200" cy="365760"/>
          </a:xfrm>
          <a:prstGeom prst="rect">
            <a:avLst/>
          </a:prstGeom>
          <a:solidFill>
            <a:srgbClr val="F0ECE4"/>
          </a:solidFill>
          <a:ln w="381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303520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Arial"/>
              </a:rPr>
              <a:t>ROAS 2.0–3.0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20440" y="5303520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EBB055"/>
                </a:solidFill>
                <a:latin typeface="Trebuchet MS"/>
              </a:rPr>
              <a:t>Keep — 5 more days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669280"/>
            <a:ext cx="5029200" cy="365760"/>
          </a:xfrm>
          <a:prstGeom prst="rect">
            <a:avLst/>
          </a:prstGeom>
          <a:solidFill>
            <a:srgbClr val="F0ECE4"/>
          </a:solidFill>
          <a:ln w="381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368" y="5742432"/>
            <a:ext cx="28346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0F172A"/>
                </a:solidFill>
                <a:latin typeface="Arial"/>
              </a:rPr>
              <a:t>ROAS &gt; 3.2×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20440" y="5742432"/>
            <a:ext cx="192024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224C38"/>
                </a:solidFill>
                <a:latin typeface="Trebuchet MS"/>
              </a:rPr>
              <a:t>Scale budget 5×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080760" y="3401568"/>
            <a:ext cx="5742432" cy="2926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224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080760" y="3401568"/>
            <a:ext cx="5742432" cy="50292"/>
          </a:xfrm>
          <a:prstGeom prst="rect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63640" y="3529584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224C38"/>
                </a:solidFill>
                <a:latin typeface="Trebuchet MS"/>
              </a:rPr>
              <a:t>7 NARRATIVE ANGLES TO TEST</a:t>
            </a:r>
          </a:p>
        </p:txBody>
      </p:sp>
      <p:sp>
        <p:nvSpPr>
          <p:cNvPr id="57" name="Oval 56"/>
          <p:cNvSpPr/>
          <p:nvPr/>
        </p:nvSpPr>
        <p:spPr>
          <a:xfrm>
            <a:off x="6263640" y="3922776"/>
            <a:ext cx="182880" cy="182880"/>
          </a:xfrm>
          <a:prstGeom prst="ellipse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37960" y="3877056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224C38"/>
                </a:solidFill>
                <a:latin typeface="Trebuchet MS"/>
              </a:rPr>
              <a:t>#1  Scarcity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09560" y="3877056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1">
                <a:solidFill>
                  <a:srgbClr val="0F172A"/>
                </a:solidFill>
                <a:latin typeface="Arial"/>
              </a:rPr>
              <a:t>'500 units · Drop 02 · Never Restocked.'</a:t>
            </a:r>
          </a:p>
        </p:txBody>
      </p:sp>
      <p:sp>
        <p:nvSpPr>
          <p:cNvPr id="60" name="Oval 59"/>
          <p:cNvSpPr/>
          <p:nvPr/>
        </p:nvSpPr>
        <p:spPr>
          <a:xfrm>
            <a:off x="6263640" y="4279392"/>
            <a:ext cx="182880" cy="182880"/>
          </a:xfrm>
          <a:prstGeom prst="ellipse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37960" y="4233672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1B365D"/>
                </a:solidFill>
                <a:latin typeface="Trebuchet MS"/>
              </a:rPr>
              <a:t>#2  Spec-led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909560" y="4233672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1">
                <a:solidFill>
                  <a:srgbClr val="0F172A"/>
                </a:solidFill>
                <a:latin typeface="Arial"/>
              </a:rPr>
              <a:t>'240 GSM heavy French Terry · Puff Print.'</a:t>
            </a:r>
          </a:p>
        </p:txBody>
      </p:sp>
      <p:sp>
        <p:nvSpPr>
          <p:cNvPr id="63" name="Oval 62"/>
          <p:cNvSpPr/>
          <p:nvPr/>
        </p:nvSpPr>
        <p:spPr>
          <a:xfrm>
            <a:off x="6263640" y="4636008"/>
            <a:ext cx="182880" cy="182880"/>
          </a:xfrm>
          <a:prstGeom prst="ellipse">
            <a:avLst/>
          </a:prstGeom>
          <a:solidFill>
            <a:srgbClr val="E27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37960" y="4590288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E27B58"/>
                </a:solidFill>
                <a:latin typeface="Trebuchet MS"/>
              </a:rPr>
              <a:t>#3  Combo Pack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09560" y="4590288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1">
                <a:solidFill>
                  <a:srgbClr val="0F172A"/>
                </a:solidFill>
                <a:latin typeface="Arial"/>
              </a:rPr>
              <a:t>'Trio Pack — get any 3 shirts &amp; save ₹1,790.'</a:t>
            </a:r>
          </a:p>
        </p:txBody>
      </p:sp>
      <p:sp>
        <p:nvSpPr>
          <p:cNvPr id="66" name="Oval 65"/>
          <p:cNvSpPr/>
          <p:nvPr/>
        </p:nvSpPr>
        <p:spPr>
          <a:xfrm>
            <a:off x="6263640" y="4992624"/>
            <a:ext cx="182880" cy="182880"/>
          </a:xfrm>
          <a:prstGeom prst="ellipse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37960" y="4946904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EBB055"/>
                </a:solidFill>
                <a:latin typeface="Trebuchet MS"/>
              </a:rPr>
              <a:t>#4  Comfort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909560" y="4946904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1">
                <a:solidFill>
                  <a:srgbClr val="0F172A"/>
                </a:solidFill>
                <a:latin typeface="Arial"/>
              </a:rPr>
              <a:t>'Worn once. Immediately ordered again.'</a:t>
            </a:r>
          </a:p>
        </p:txBody>
      </p:sp>
      <p:sp>
        <p:nvSpPr>
          <p:cNvPr id="69" name="Oval 68"/>
          <p:cNvSpPr/>
          <p:nvPr/>
        </p:nvSpPr>
        <p:spPr>
          <a:xfrm>
            <a:off x="6263640" y="5349240"/>
            <a:ext cx="182880" cy="18288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537960" y="5303520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0F172A"/>
                </a:solidFill>
                <a:latin typeface="Trebuchet MS"/>
              </a:rPr>
              <a:t>#5  Identity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09560" y="5303520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1">
                <a:solidFill>
                  <a:srgbClr val="0F172A"/>
                </a:solidFill>
                <a:latin typeface="Arial"/>
              </a:rPr>
              <a:t>'Not everyone gets the backprint reference.'</a:t>
            </a:r>
          </a:p>
        </p:txBody>
      </p:sp>
      <p:sp>
        <p:nvSpPr>
          <p:cNvPr id="72" name="Oval 71"/>
          <p:cNvSpPr/>
          <p:nvPr/>
        </p:nvSpPr>
        <p:spPr>
          <a:xfrm>
            <a:off x="6263640" y="5705856"/>
            <a:ext cx="182880" cy="182880"/>
          </a:xfrm>
          <a:prstGeom prst="ellipse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537960" y="5660136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1B365D"/>
                </a:solidFill>
                <a:latin typeface="Trebuchet MS"/>
              </a:rPr>
              <a:t>#6  Haul UGC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909560" y="5660136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1">
                <a:solidFill>
                  <a:srgbClr val="0F172A"/>
                </a:solidFill>
                <a:latin typeface="Arial"/>
              </a:rPr>
              <a:t>Creator styling &amp; fit-check review video.</a:t>
            </a:r>
          </a:p>
        </p:txBody>
      </p:sp>
      <p:sp>
        <p:nvSpPr>
          <p:cNvPr id="75" name="Oval 74"/>
          <p:cNvSpPr/>
          <p:nvPr/>
        </p:nvSpPr>
        <p:spPr>
          <a:xfrm>
            <a:off x="6263640" y="6062472"/>
            <a:ext cx="182880" cy="182880"/>
          </a:xfrm>
          <a:prstGeom prst="ellipse">
            <a:avLst/>
          </a:prstGeom>
          <a:solidFill>
            <a:srgbClr val="E27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37960" y="6016752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E27B58"/>
                </a:solidFill>
                <a:latin typeface="Trebuchet MS"/>
              </a:rPr>
              <a:t>#7  Hinglish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909560" y="6016752"/>
            <a:ext cx="37490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1">
                <a:solidFill>
                  <a:srgbClr val="0F172A"/>
                </a:solidFill>
                <a:latin typeface="Arial"/>
              </a:rPr>
              <a:t>'Drip level max.' Mumbai streetwear hooks.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36576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Trebuchet MS"/>
              </a:rPr>
              <a:t>RETENTION — THE REVENUE THAT COMPOUNDS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601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EBB055"/>
                </a:solidFill>
                <a:latin typeface="Arial"/>
              </a:rPr>
              <a:t>Acquiring a customer costs ₹1,222. Keeping one costs only ₹240.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18288"/>
          </a:xfrm>
          <a:prstGeom prst="rect">
            <a:avLst/>
          </a:prstGeom>
          <a:solidFill>
            <a:srgbClr val="DAD4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38544"/>
            <a:ext cx="1109441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Arial"/>
              </a:rPr>
              <a:t>CHAPTER 2 DRIP  ·  GROWTH &amp; ROAS STRATEGY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638544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224C38"/>
                </a:solidFill>
                <a:latin typeface="Arial"/>
              </a:rPr>
              <a:t>4 / 8</a:t>
            </a:r>
          </a:p>
        </p:txBody>
      </p:sp>
      <p:sp>
        <p:nvSpPr>
          <p:cNvPr id="9" name="Oval 8"/>
          <p:cNvSpPr/>
          <p:nvPr/>
        </p:nvSpPr>
        <p:spPr>
          <a:xfrm>
            <a:off x="2788920" y="2606040"/>
            <a:ext cx="2834640" cy="2834640"/>
          </a:xfrm>
          <a:prstGeom prst="ellipse">
            <a:avLst/>
          </a:prstGeom>
          <a:solidFill>
            <a:srgbClr val="F0ECE4"/>
          </a:solidFill>
          <a:ln w="8890">
            <a:solidFill>
              <a:srgbClr val="224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337559" y="3154680"/>
            <a:ext cx="1737360" cy="1737360"/>
          </a:xfrm>
          <a:prstGeom prst="ellipse">
            <a:avLst/>
          </a:prstGeom>
          <a:solidFill>
            <a:srgbClr val="224C38"/>
          </a:solidFill>
          <a:ln w="22860">
            <a:solidFill>
              <a:srgbClr val="EBB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59" y="3511296"/>
            <a:ext cx="1737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EBB055"/>
                </a:solidFill>
                <a:latin typeface="Trebuchet MS"/>
              </a:rPr>
              <a:t>GROWTH
FLYWHEEL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89020" y="1197864"/>
            <a:ext cx="1234440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224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89020" y="1197864"/>
            <a:ext cx="1234440" cy="36576"/>
          </a:xfrm>
          <a:prstGeom prst="rect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9020" y="1252728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224C38"/>
                </a:solidFill>
                <a:latin typeface="Trebuchet MS"/>
              </a:rPr>
              <a:t>ACQUIRE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9020" y="1545336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 i="0">
                <a:solidFill>
                  <a:srgbClr val="0F172A"/>
                </a:solidFill>
                <a:latin typeface="Arial"/>
              </a:rPr>
              <a:t>1st buy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90501" y="2409444"/>
            <a:ext cx="1234440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490501" y="2409444"/>
            <a:ext cx="1234440" cy="36576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90501" y="2464308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1B365D"/>
                </a:solidFill>
                <a:latin typeface="Trebuchet MS"/>
              </a:rPr>
              <a:t>NURTURE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0501" y="2756916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 i="0">
                <a:solidFill>
                  <a:srgbClr val="0F172A"/>
                </a:solidFill>
                <a:latin typeface="Arial"/>
              </a:rPr>
              <a:t>Post-buy flow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490501" y="4832604"/>
            <a:ext cx="1234440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490501" y="4832604"/>
            <a:ext cx="1234440" cy="36576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90501" y="4887468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0F172A"/>
                </a:solidFill>
                <a:latin typeface="Trebuchet MS"/>
              </a:rPr>
              <a:t>RETAIN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90501" y="5180076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 i="0">
                <a:solidFill>
                  <a:srgbClr val="0F172A"/>
                </a:solidFill>
                <a:latin typeface="Arial"/>
              </a:rPr>
              <a:t>2nd buy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589019" y="6044184"/>
            <a:ext cx="1234440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E27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89019" y="6044184"/>
            <a:ext cx="1234440" cy="36576"/>
          </a:xfrm>
          <a:prstGeom prst="rect">
            <a:avLst/>
          </a:prstGeom>
          <a:solidFill>
            <a:srgbClr val="E27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9019" y="6099048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E27B58"/>
                </a:solidFill>
                <a:latin typeface="Trebuchet MS"/>
              </a:rPr>
              <a:t>VIP ACCESS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9019" y="6391656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 i="0">
                <a:solidFill>
                  <a:srgbClr val="0F172A"/>
                </a:solidFill>
                <a:latin typeface="Arial"/>
              </a:rPr>
              <a:t>Early drop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87538" y="4832604"/>
            <a:ext cx="1234440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224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87538" y="4832604"/>
            <a:ext cx="1234440" cy="36576"/>
          </a:xfrm>
          <a:prstGeom prst="rect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87538" y="4887468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224C38"/>
                </a:solidFill>
                <a:latin typeface="Trebuchet MS"/>
              </a:rPr>
              <a:t>REFERRAL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87538" y="5180076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 i="0">
                <a:solidFill>
                  <a:srgbClr val="0F172A"/>
                </a:solidFill>
                <a:latin typeface="Arial"/>
              </a:rPr>
              <a:t>WOM Gift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87538" y="2409444"/>
            <a:ext cx="1234440" cy="8046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E27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687538" y="2409444"/>
            <a:ext cx="1234440" cy="36576"/>
          </a:xfrm>
          <a:prstGeom prst="rect">
            <a:avLst/>
          </a:prstGeom>
          <a:solidFill>
            <a:srgbClr val="E27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87538" y="2464308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E27B58"/>
                </a:solidFill>
                <a:latin typeface="Trebuchet MS"/>
              </a:rPr>
              <a:t>WIN-BACK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87538" y="2756916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 i="0">
                <a:solidFill>
                  <a:srgbClr val="0F172A"/>
                </a:solidFill>
                <a:latin typeface="Arial"/>
              </a:rPr>
              <a:t>Day 60 nudge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20" y="1152144"/>
            <a:ext cx="2926080" cy="5321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224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961120" y="1152144"/>
            <a:ext cx="2926080" cy="50292"/>
          </a:xfrm>
          <a:prstGeom prst="rect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128016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224C38"/>
                </a:solidFill>
                <a:latin typeface="Trebuchet MS"/>
              </a:rPr>
              <a:t>RETENTION CALENDAR</a:t>
            </a:r>
          </a:p>
        </p:txBody>
      </p:sp>
      <p:sp>
        <p:nvSpPr>
          <p:cNvPr id="39" name="Oval 38"/>
          <p:cNvSpPr/>
          <p:nvPr/>
        </p:nvSpPr>
        <p:spPr>
          <a:xfrm>
            <a:off x="9144000" y="1737360"/>
            <a:ext cx="201168" cy="201168"/>
          </a:xfrm>
          <a:prstGeom prst="ellipse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36608" y="170078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224C38"/>
                </a:solidFill>
                <a:latin typeface="Trebuchet MS"/>
              </a:rPr>
              <a:t>Day 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49840" y="1700784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0F172A"/>
                </a:solidFill>
                <a:latin typeface="Arial"/>
              </a:rPr>
              <a:t>Welcome SMS flow</a:t>
            </a:r>
          </a:p>
        </p:txBody>
      </p:sp>
      <p:sp>
        <p:nvSpPr>
          <p:cNvPr id="42" name="Oval 41"/>
          <p:cNvSpPr/>
          <p:nvPr/>
        </p:nvSpPr>
        <p:spPr>
          <a:xfrm>
            <a:off x="9144000" y="2304288"/>
            <a:ext cx="201168" cy="201168"/>
          </a:xfrm>
          <a:prstGeom prst="ellipse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36608" y="226771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1B365D"/>
                </a:solidFill>
                <a:latin typeface="Trebuchet MS"/>
              </a:rPr>
              <a:t>Day 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49840" y="2267712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0F172A"/>
                </a:solidFill>
                <a:latin typeface="Arial"/>
              </a:rPr>
              <a:t>Streetwear style guide</a:t>
            </a:r>
          </a:p>
        </p:txBody>
      </p:sp>
      <p:sp>
        <p:nvSpPr>
          <p:cNvPr id="45" name="Oval 44"/>
          <p:cNvSpPr/>
          <p:nvPr/>
        </p:nvSpPr>
        <p:spPr>
          <a:xfrm>
            <a:off x="9144000" y="2871216"/>
            <a:ext cx="201168" cy="201168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36608" y="28346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0F172A"/>
                </a:solidFill>
                <a:latin typeface="Trebuchet MS"/>
              </a:rPr>
              <a:t>Day 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49840" y="2834640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0F172A"/>
                </a:solidFill>
                <a:latin typeface="Arial"/>
              </a:rPr>
              <a:t>Review &amp; UGC incentive</a:t>
            </a:r>
          </a:p>
        </p:txBody>
      </p:sp>
      <p:sp>
        <p:nvSpPr>
          <p:cNvPr id="48" name="Oval 47"/>
          <p:cNvSpPr/>
          <p:nvPr/>
        </p:nvSpPr>
        <p:spPr>
          <a:xfrm>
            <a:off x="9144000" y="3438144"/>
            <a:ext cx="201168" cy="201168"/>
          </a:xfrm>
          <a:prstGeom prst="ellipse">
            <a:avLst/>
          </a:prstGeom>
          <a:solidFill>
            <a:srgbClr val="E27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36608" y="340156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E27B58"/>
                </a:solidFill>
                <a:latin typeface="Trebuchet MS"/>
              </a:rPr>
              <a:t>Day 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49840" y="3401568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0F172A"/>
                </a:solidFill>
                <a:latin typeface="Arial"/>
              </a:rPr>
              <a:t>Coord cross-sell pack</a:t>
            </a:r>
          </a:p>
        </p:txBody>
      </p:sp>
      <p:sp>
        <p:nvSpPr>
          <p:cNvPr id="51" name="Oval 50"/>
          <p:cNvSpPr/>
          <p:nvPr/>
        </p:nvSpPr>
        <p:spPr>
          <a:xfrm>
            <a:off x="9144000" y="4005072"/>
            <a:ext cx="201168" cy="201168"/>
          </a:xfrm>
          <a:prstGeom prst="ellipse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436608" y="396849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EBB055"/>
                </a:solidFill>
                <a:latin typeface="Trebuchet MS"/>
              </a:rPr>
              <a:t>Day 30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49840" y="3968496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0F172A"/>
                </a:solidFill>
                <a:latin typeface="Arial"/>
              </a:rPr>
              <a:t>Next collection VIP drop</a:t>
            </a:r>
          </a:p>
        </p:txBody>
      </p:sp>
      <p:sp>
        <p:nvSpPr>
          <p:cNvPr id="54" name="Oval 53"/>
          <p:cNvSpPr/>
          <p:nvPr/>
        </p:nvSpPr>
        <p:spPr>
          <a:xfrm>
            <a:off x="9144000" y="4572000"/>
            <a:ext cx="201168" cy="201168"/>
          </a:xfrm>
          <a:prstGeom prst="ellipse">
            <a:avLst/>
          </a:prstGeom>
          <a:solidFill>
            <a:srgbClr val="E27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36608" y="453542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E27B58"/>
                </a:solidFill>
                <a:latin typeface="Trebuchet MS"/>
              </a:rPr>
              <a:t>Day 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49840" y="4535424"/>
            <a:ext cx="16459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0F172A"/>
                </a:solidFill>
                <a:latin typeface="Arial"/>
              </a:rPr>
              <a:t>Lapsed buyer win-back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36576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Trebuchet MS"/>
              </a:rPr>
              <a:t>THE BUSINESS CASE — BEFORE VS. AFTER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601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EBB055"/>
                </a:solidFill>
                <a:latin typeface="Arial"/>
              </a:rPr>
              <a:t>Same ₹90L media spend baseline. Smarter operations. Radically different profitability outcome.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18288"/>
          </a:xfrm>
          <a:prstGeom prst="rect">
            <a:avLst/>
          </a:prstGeom>
          <a:solidFill>
            <a:srgbClr val="DAD4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38544"/>
            <a:ext cx="1109441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Arial"/>
              </a:rPr>
              <a:t>CHAPTER 2 DRIP  ·  GROWTH &amp; ROAS STRATEGY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638544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224C38"/>
                </a:solidFill>
                <a:latin typeface="Arial"/>
              </a:rPr>
              <a:t>5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70432"/>
            <a:ext cx="4754880" cy="5321808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170432"/>
            <a:ext cx="4754880" cy="54864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261872"/>
            <a:ext cx="47548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EBB055"/>
                </a:solidFill>
                <a:latin typeface="Trebuchet MS"/>
              </a:rPr>
              <a:t>TODAY (PR-LED)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1664208"/>
            <a:ext cx="4425696" cy="841248"/>
          </a:xfrm>
          <a:prstGeom prst="rect">
            <a:avLst/>
          </a:prstGeom>
          <a:solidFill>
            <a:srgbClr val="0F172A"/>
          </a:solidFill>
          <a:ln w="508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1719072"/>
            <a:ext cx="42976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EBB055"/>
                </a:solidFill>
                <a:latin typeface="Trebuchet MS"/>
              </a:rPr>
              <a:t>Monthly Media Spend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1975104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Trebuchet MS"/>
              </a:rPr>
              <a:t>₹90L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103120"/>
            <a:ext cx="11887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 i="1">
                <a:solidFill>
                  <a:srgbClr val="EBB055"/>
                </a:solidFill>
                <a:latin typeface="Arial"/>
              </a:rPr>
              <a:t>/ month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" y="2542032"/>
            <a:ext cx="4425696" cy="841248"/>
          </a:xfrm>
          <a:prstGeom prst="rect">
            <a:avLst/>
          </a:prstGeom>
          <a:solidFill>
            <a:srgbClr val="0F172A"/>
          </a:solidFill>
          <a:ln w="508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2596896"/>
            <a:ext cx="42976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EBB055"/>
                </a:solidFill>
                <a:latin typeface="Trebuchet MS"/>
              </a:rPr>
              <a:t>Ad Spend ROAS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2852928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E27B58"/>
                </a:solidFill>
                <a:latin typeface="Trebuchet MS"/>
              </a:rPr>
              <a:t>1.8×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3419856"/>
            <a:ext cx="4425696" cy="841248"/>
          </a:xfrm>
          <a:prstGeom prst="rect">
            <a:avLst/>
          </a:prstGeom>
          <a:solidFill>
            <a:srgbClr val="0F172A"/>
          </a:solidFill>
          <a:ln w="508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3474720"/>
            <a:ext cx="42976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EBB055"/>
                </a:solidFill>
                <a:latin typeface="Trebuchet MS"/>
              </a:rPr>
              <a:t>Gross Revenue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" y="3730752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Trebuchet MS"/>
              </a:rPr>
              <a:t>₹1.62 Cr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858768"/>
            <a:ext cx="11887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 i="1">
                <a:solidFill>
                  <a:srgbClr val="EBB055"/>
                </a:solidFill>
                <a:latin typeface="Arial"/>
              </a:rPr>
              <a:t>/ month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4297680"/>
            <a:ext cx="4425696" cy="841248"/>
          </a:xfrm>
          <a:prstGeom prst="rect">
            <a:avLst/>
          </a:prstGeom>
          <a:solidFill>
            <a:srgbClr val="0F172A"/>
          </a:solidFill>
          <a:ln w="508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1792" y="4352544"/>
            <a:ext cx="42976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EBB055"/>
                </a:solidFill>
                <a:latin typeface="Trebuchet MS"/>
              </a:rPr>
              <a:t>Average Order Value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" y="4608576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Trebuchet MS"/>
              </a:rPr>
              <a:t>₹2,200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" y="5175504"/>
            <a:ext cx="4425696" cy="841248"/>
          </a:xfrm>
          <a:prstGeom prst="rect">
            <a:avLst/>
          </a:prstGeom>
          <a:solidFill>
            <a:srgbClr val="0F172A"/>
          </a:solidFill>
          <a:ln w="508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" y="5230368"/>
            <a:ext cx="42976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EBB055"/>
                </a:solidFill>
                <a:latin typeface="Trebuchet MS"/>
              </a:rPr>
              <a:t>Contribution Margin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" y="5486400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E27B58"/>
                </a:solidFill>
                <a:latin typeface="Trebuchet MS"/>
              </a:rPr>
              <a:t>–₹13.5L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5614416"/>
            <a:ext cx="11887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 i="1">
                <a:solidFill>
                  <a:srgbClr val="EBB055"/>
                </a:solidFill>
                <a:latin typeface="Arial"/>
              </a:rPr>
              <a:t>(–8.3% CM1)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32120" y="1170432"/>
            <a:ext cx="4754880" cy="5321808"/>
          </a:xfrm>
          <a:prstGeom prst="roundRect">
            <a:avLst>
              <a:gd name="adj" fmla="val 4000"/>
            </a:avLst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32120" y="1170432"/>
            <a:ext cx="4754880" cy="54864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32120" y="1261872"/>
            <a:ext cx="475488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300" b="1" i="0">
                <a:solidFill>
                  <a:srgbClr val="EBB055"/>
                </a:solidFill>
                <a:latin typeface="Trebuchet MS"/>
              </a:rPr>
              <a:t>90-DAY TARGET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96712" y="1664208"/>
            <a:ext cx="4425696" cy="841248"/>
          </a:xfrm>
          <a:prstGeom prst="rect">
            <a:avLst/>
          </a:prstGeom>
          <a:solidFill>
            <a:srgbClr val="224C38"/>
          </a:solidFill>
          <a:ln w="508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88152" y="1719072"/>
            <a:ext cx="42976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EBB055"/>
                </a:solidFill>
                <a:latin typeface="Trebuchet MS"/>
              </a:rPr>
              <a:t>Monthly Media Spend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88152" y="1975104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Trebuchet MS"/>
              </a:rPr>
              <a:t>₹1.35 Cr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23960" y="2103120"/>
            <a:ext cx="11887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 i="1">
                <a:solidFill>
                  <a:srgbClr val="EBB055"/>
                </a:solidFill>
                <a:latin typeface="Arial"/>
              </a:rPr>
              <a:t>/ month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96712" y="2542032"/>
            <a:ext cx="4425696" cy="841248"/>
          </a:xfrm>
          <a:prstGeom prst="rect">
            <a:avLst/>
          </a:prstGeom>
          <a:solidFill>
            <a:srgbClr val="224C38"/>
          </a:solidFill>
          <a:ln w="508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788152" y="2596896"/>
            <a:ext cx="42976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EBB055"/>
                </a:solidFill>
                <a:latin typeface="Trebuchet MS"/>
              </a:rPr>
              <a:t>Ad Spend ROAS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88152" y="2852928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EBB055"/>
                </a:solidFill>
                <a:latin typeface="Trebuchet MS"/>
              </a:rPr>
              <a:t>3.2×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96712" y="3419856"/>
            <a:ext cx="4425696" cy="841248"/>
          </a:xfrm>
          <a:prstGeom prst="rect">
            <a:avLst/>
          </a:prstGeom>
          <a:solidFill>
            <a:srgbClr val="224C38"/>
          </a:solidFill>
          <a:ln w="508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88152" y="3474720"/>
            <a:ext cx="42976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EBB055"/>
                </a:solidFill>
                <a:latin typeface="Trebuchet MS"/>
              </a:rPr>
              <a:t>Gross Revenue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88152" y="3730752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Trebuchet MS"/>
              </a:rPr>
              <a:t>₹4.32 Cr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23960" y="3858768"/>
            <a:ext cx="11887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 i="1">
                <a:solidFill>
                  <a:srgbClr val="EBB055"/>
                </a:solidFill>
                <a:latin typeface="Arial"/>
              </a:rPr>
              <a:t>/ month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96712" y="4297680"/>
            <a:ext cx="4425696" cy="841248"/>
          </a:xfrm>
          <a:prstGeom prst="rect">
            <a:avLst/>
          </a:prstGeom>
          <a:solidFill>
            <a:srgbClr val="224C38"/>
          </a:solidFill>
          <a:ln w="508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88152" y="4352544"/>
            <a:ext cx="42976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EBB055"/>
                </a:solidFill>
                <a:latin typeface="Trebuchet MS"/>
              </a:rPr>
              <a:t>Average Order Value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88152" y="4608576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Trebuchet MS"/>
              </a:rPr>
              <a:t>₹3,200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96712" y="5175504"/>
            <a:ext cx="4425696" cy="841248"/>
          </a:xfrm>
          <a:prstGeom prst="rect">
            <a:avLst/>
          </a:prstGeom>
          <a:solidFill>
            <a:srgbClr val="224C38"/>
          </a:solidFill>
          <a:ln w="508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88152" y="5230368"/>
            <a:ext cx="42976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EBB055"/>
                </a:solidFill>
                <a:latin typeface="Trebuchet MS"/>
              </a:rPr>
              <a:t>Contribution Margin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88152" y="5486400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1" i="0">
                <a:solidFill>
                  <a:srgbClr val="EBB055"/>
                </a:solidFill>
                <a:latin typeface="Trebuchet MS"/>
              </a:rPr>
              <a:t>+₹1.08 Cr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5614416"/>
            <a:ext cx="118872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0" i="1">
                <a:solidFill>
                  <a:srgbClr val="EBB055"/>
                </a:solidFill>
                <a:latin typeface="Arial"/>
              </a:rPr>
              <a:t>(+25.0% CM1)</a:t>
            </a:r>
          </a:p>
        </p:txBody>
      </p:sp>
      <p:sp>
        <p:nvSpPr>
          <p:cNvPr id="51" name="Right Arrow 50"/>
          <p:cNvSpPr/>
          <p:nvPr/>
        </p:nvSpPr>
        <p:spPr>
          <a:xfrm>
            <a:off x="5230368" y="3703320"/>
            <a:ext cx="411480" cy="201168"/>
          </a:xfrm>
          <a:prstGeom prst="rightArrow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12080" y="3401568"/>
            <a:ext cx="43891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0F172A"/>
                </a:solidFill>
                <a:latin typeface="Trebuchet MS"/>
              </a:rPr>
              <a:t>90
DAYS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378440" y="1170432"/>
            <a:ext cx="1554480" cy="532180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378440" y="1316736"/>
            <a:ext cx="1554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i="0">
                <a:solidFill>
                  <a:srgbClr val="224C38"/>
                </a:solidFill>
                <a:latin typeface="Trebuchet MS"/>
              </a:rPr>
              <a:t>GROWTH
LEVERS</a:t>
            </a:r>
          </a:p>
        </p:txBody>
      </p:sp>
      <p:sp>
        <p:nvSpPr>
          <p:cNvPr id="55" name="Oval 54"/>
          <p:cNvSpPr/>
          <p:nvPr/>
        </p:nvSpPr>
        <p:spPr>
          <a:xfrm>
            <a:off x="10991088" y="1920240"/>
            <a:ext cx="292608" cy="292608"/>
          </a:xfrm>
          <a:prstGeom prst="ellipse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378440" y="2267712"/>
            <a:ext cx="155448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0F172A"/>
                </a:solidFill>
                <a:latin typeface="Arial"/>
              </a:rPr>
              <a:t>Creative
Velocity</a:t>
            </a:r>
          </a:p>
        </p:txBody>
      </p:sp>
      <p:sp>
        <p:nvSpPr>
          <p:cNvPr id="57" name="Oval 56"/>
          <p:cNvSpPr/>
          <p:nvPr/>
        </p:nvSpPr>
        <p:spPr>
          <a:xfrm>
            <a:off x="10991088" y="2798064"/>
            <a:ext cx="292608" cy="292608"/>
          </a:xfrm>
          <a:prstGeom prst="ellipse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378440" y="3145536"/>
            <a:ext cx="155448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0F172A"/>
                </a:solidFill>
                <a:latin typeface="Arial"/>
              </a:rPr>
              <a:t>AOV Packs
&amp; Bundles</a:t>
            </a:r>
          </a:p>
        </p:txBody>
      </p:sp>
      <p:sp>
        <p:nvSpPr>
          <p:cNvPr id="59" name="Oval 58"/>
          <p:cNvSpPr/>
          <p:nvPr/>
        </p:nvSpPr>
        <p:spPr>
          <a:xfrm>
            <a:off x="10991088" y="3675888"/>
            <a:ext cx="292608" cy="292608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378440" y="4023360"/>
            <a:ext cx="155448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0F172A"/>
                </a:solidFill>
                <a:latin typeface="Arial"/>
              </a:rPr>
              <a:t>Retention
Flywheel</a:t>
            </a:r>
          </a:p>
        </p:txBody>
      </p:sp>
      <p:sp>
        <p:nvSpPr>
          <p:cNvPr id="61" name="Oval 60"/>
          <p:cNvSpPr/>
          <p:nvPr/>
        </p:nvSpPr>
        <p:spPr>
          <a:xfrm>
            <a:off x="10991088" y="4553712"/>
            <a:ext cx="292608" cy="292608"/>
          </a:xfrm>
          <a:prstGeom prst="ellipse">
            <a:avLst/>
          </a:prstGeom>
          <a:solidFill>
            <a:srgbClr val="E27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378440" y="4901184"/>
            <a:ext cx="155448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0F172A"/>
                </a:solidFill>
                <a:latin typeface="Arial"/>
              </a:rPr>
              <a:t>Drop
Scarcity</a:t>
            </a:r>
          </a:p>
        </p:txBody>
      </p:sp>
      <p:sp>
        <p:nvSpPr>
          <p:cNvPr id="63" name="Oval 62"/>
          <p:cNvSpPr/>
          <p:nvPr/>
        </p:nvSpPr>
        <p:spPr>
          <a:xfrm>
            <a:off x="10991088" y="5431536"/>
            <a:ext cx="292608" cy="292608"/>
          </a:xfrm>
          <a:prstGeom prst="ellipse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378440" y="5779008"/>
            <a:ext cx="155448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0F172A"/>
                </a:solidFill>
                <a:latin typeface="Arial"/>
              </a:rPr>
              <a:t>Google
Brand Search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36576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Trebuchet MS"/>
              </a:rPr>
              <a:t>WHAT COMPETITORS ARE DOING — STEAL &amp; ADAPT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601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EBB055"/>
                </a:solidFill>
                <a:latin typeface="Arial"/>
              </a:rPr>
              <a:t>Four brands doing parts of it right. Real ad intelligence. Clear actions for Chapter 2.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18288"/>
          </a:xfrm>
          <a:prstGeom prst="rect">
            <a:avLst/>
          </a:prstGeom>
          <a:solidFill>
            <a:srgbClr val="DAD4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38544"/>
            <a:ext cx="1109441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Arial"/>
              </a:rPr>
              <a:t>CHAPTER 2 DRIP  ·  GROWTH &amp; ROAS STRATEGY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638544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224C38"/>
                </a:solidFill>
                <a:latin typeface="Arial"/>
              </a:rPr>
              <a:t>6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70432"/>
            <a:ext cx="2788920" cy="5321808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170432"/>
            <a:ext cx="2788920" cy="54864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39112" y="1243584"/>
            <a:ext cx="1005840" cy="237744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39112" y="1261872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1" i="0">
                <a:solidFill>
                  <a:srgbClr val="0F172A"/>
                </a:solidFill>
                <a:latin typeface="Trebuchet MS"/>
              </a:rPr>
              <a:t>CULT BRAND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243584"/>
            <a:ext cx="15087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Trebuchet MS"/>
              </a:rPr>
              <a:t>JAYWALKING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572768"/>
            <a:ext cx="25146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1">
                <a:solidFill>
                  <a:srgbClr val="EBB055"/>
                </a:solidFill>
                <a:latin typeface="Arial"/>
              </a:rPr>
              <a:t>Ultra-Premium · ₹3k–₹8k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1847088"/>
            <a:ext cx="2514600" cy="749808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 w="10160">
            <a:solidFill>
              <a:srgbClr val="EBB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1847088"/>
            <a:ext cx="2514600" cy="41148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1929384"/>
            <a:ext cx="25146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64748B"/>
                </a:solidFill>
                <a:latin typeface="Arial"/>
              </a:rPr>
              <a:t>Avg Selling 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139696"/>
            <a:ext cx="2514600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Trebuchet MS"/>
              </a:rPr>
              <a:t>₹5,500+</a:t>
            </a:r>
          </a:p>
        </p:txBody>
      </p:sp>
      <p:sp>
        <p:nvSpPr>
          <p:cNvPr id="19" name="Oval 18"/>
          <p:cNvSpPr/>
          <p:nvPr/>
        </p:nvSpPr>
        <p:spPr>
          <a:xfrm>
            <a:off x="502920" y="2752344"/>
            <a:ext cx="164592" cy="164592"/>
          </a:xfrm>
          <a:prstGeom prst="ellipse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2697480"/>
            <a:ext cx="2286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Zero discounts ever — high price anchors</a:t>
            </a:r>
          </a:p>
        </p:txBody>
      </p:sp>
      <p:sp>
        <p:nvSpPr>
          <p:cNvPr id="21" name="Oval 20"/>
          <p:cNvSpPr/>
          <p:nvPr/>
        </p:nvSpPr>
        <p:spPr>
          <a:xfrm>
            <a:off x="502920" y="3154680"/>
            <a:ext cx="164592" cy="164592"/>
          </a:xfrm>
          <a:prstGeom prst="ellipse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099816"/>
            <a:ext cx="2286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Silhouette-forward photography, minimal copy</a:t>
            </a:r>
          </a:p>
        </p:txBody>
      </p:sp>
      <p:sp>
        <p:nvSpPr>
          <p:cNvPr id="23" name="Oval 22"/>
          <p:cNvSpPr/>
          <p:nvPr/>
        </p:nvSpPr>
        <p:spPr>
          <a:xfrm>
            <a:off x="502920" y="3557016"/>
            <a:ext cx="164592" cy="164592"/>
          </a:xfrm>
          <a:prstGeom prst="ellipse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3502152"/>
            <a:ext cx="2286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Designer &amp; rapper seeding, zero paid influencers</a:t>
            </a:r>
          </a:p>
        </p:txBody>
      </p:sp>
      <p:sp>
        <p:nvSpPr>
          <p:cNvPr id="25" name="Oval 24"/>
          <p:cNvSpPr/>
          <p:nvPr/>
        </p:nvSpPr>
        <p:spPr>
          <a:xfrm>
            <a:off x="502920" y="3959352"/>
            <a:ext cx="164592" cy="164592"/>
          </a:xfrm>
          <a:prstGeom prst="ellipse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3904488"/>
            <a:ext cx="2286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Very low creative velocity — scarcity is the hook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5486400"/>
            <a:ext cx="2788920" cy="100584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5486400"/>
            <a:ext cx="2788920" cy="32004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559552"/>
            <a:ext cx="25146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EBB055"/>
                </a:solidFill>
                <a:latin typeface="Trebuchet MS"/>
              </a:rPr>
              <a:t>→ STEAL &amp; ADAPT FOR C2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779008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Run product SILHOUETTE ads, not story ads. Let the design print and shape speak for itself.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64408" y="1170432"/>
            <a:ext cx="2788920" cy="5321808"/>
          </a:xfrm>
          <a:prstGeom prst="roundRect">
            <a:avLst>
              <a:gd name="adj" fmla="val 4000"/>
            </a:avLst>
          </a:prstGeom>
          <a:solidFill>
            <a:srgbClr val="E27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64408" y="1170432"/>
            <a:ext cx="2788920" cy="54864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37760" y="1243584"/>
            <a:ext cx="1005840" cy="237744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37760" y="1261872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1" i="0">
                <a:solidFill>
                  <a:srgbClr val="E27B58"/>
                </a:solidFill>
                <a:latin typeface="Trebuchet MS"/>
              </a:rPr>
              <a:t>DROP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01568" y="1243584"/>
            <a:ext cx="15087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Trebuchet MS"/>
              </a:rPr>
              <a:t>BLUORNG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01568" y="1572768"/>
            <a:ext cx="25146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1">
                <a:solidFill>
                  <a:srgbClr val="EBB055"/>
                </a:solidFill>
                <a:latin typeface="Arial"/>
              </a:rPr>
              <a:t>Premium · ₹3.5k–₹7k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01568" y="1847088"/>
            <a:ext cx="2514600" cy="749808"/>
          </a:xfrm>
          <a:prstGeom prst="roundRect">
            <a:avLst>
              <a:gd name="adj" fmla="val 4000"/>
            </a:avLst>
          </a:prstGeom>
          <a:solidFill>
            <a:srgbClr val="E27B58"/>
          </a:solidFill>
          <a:ln w="10160">
            <a:solidFill>
              <a:srgbClr val="EBB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01568" y="1847088"/>
            <a:ext cx="2514600" cy="41148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01568" y="1929384"/>
            <a:ext cx="25146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64748B"/>
                </a:solidFill>
                <a:latin typeface="Arial"/>
              </a:rPr>
              <a:t>Repeat Buy Rate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01568" y="2139696"/>
            <a:ext cx="2514600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Trebuchet MS"/>
              </a:rPr>
              <a:t>35%+</a:t>
            </a:r>
          </a:p>
        </p:txBody>
      </p:sp>
      <p:sp>
        <p:nvSpPr>
          <p:cNvPr id="41" name="Oval 40"/>
          <p:cNvSpPr/>
          <p:nvPr/>
        </p:nvSpPr>
        <p:spPr>
          <a:xfrm>
            <a:off x="3401568" y="2752344"/>
            <a:ext cx="164592" cy="164592"/>
          </a:xfrm>
          <a:prstGeom prst="ellipse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48456" y="2697480"/>
            <a:ext cx="2286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Never-restock model: drop countdowns in ads</a:t>
            </a:r>
          </a:p>
        </p:txBody>
      </p:sp>
      <p:sp>
        <p:nvSpPr>
          <p:cNvPr id="43" name="Oval 42"/>
          <p:cNvSpPr/>
          <p:nvPr/>
        </p:nvSpPr>
        <p:spPr>
          <a:xfrm>
            <a:off x="3401568" y="3154680"/>
            <a:ext cx="164592" cy="164592"/>
          </a:xfrm>
          <a:prstGeom prst="ellipse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48456" y="3099816"/>
            <a:ext cx="2286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Fabric texture close-ups: GSM &amp; puff print detail</a:t>
            </a:r>
          </a:p>
        </p:txBody>
      </p:sp>
      <p:sp>
        <p:nvSpPr>
          <p:cNvPr id="45" name="Oval 44"/>
          <p:cNvSpPr/>
          <p:nvPr/>
        </p:nvSpPr>
        <p:spPr>
          <a:xfrm>
            <a:off x="3401568" y="3557016"/>
            <a:ext cx="164592" cy="164592"/>
          </a:xfrm>
          <a:prstGeom prst="ellipse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48456" y="3502152"/>
            <a:ext cx="2286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FOMO copy: 'This colorway will not return'</a:t>
            </a:r>
          </a:p>
        </p:txBody>
      </p:sp>
      <p:sp>
        <p:nvSpPr>
          <p:cNvPr id="47" name="Oval 46"/>
          <p:cNvSpPr/>
          <p:nvPr/>
        </p:nvSpPr>
        <p:spPr>
          <a:xfrm>
            <a:off x="3401568" y="3959352"/>
            <a:ext cx="164592" cy="164592"/>
          </a:xfrm>
          <a:prstGeom prst="ellipse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48456" y="3904488"/>
            <a:ext cx="2286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Heavy Meta Advantage+ Catalog retargeting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64408" y="5486400"/>
            <a:ext cx="2788920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264408" y="5486400"/>
            <a:ext cx="2788920" cy="32004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01568" y="5559552"/>
            <a:ext cx="25146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EBB055"/>
                </a:solidFill>
                <a:latin typeface="Trebuchet MS"/>
              </a:rPr>
              <a:t>→ STEAL &amp; ADAPT FOR C2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01568" y="5779008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Add drop code to ads: 'Drop 02 · 500 units available · Never Restocked.'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63056" y="1170432"/>
            <a:ext cx="2788920" cy="5321808"/>
          </a:xfrm>
          <a:prstGeom prst="roundRect">
            <a:avLst>
              <a:gd name="adj" fmla="val 4000"/>
            </a:avLst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63056" y="1170432"/>
            <a:ext cx="2788920" cy="54864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836408" y="1243584"/>
            <a:ext cx="1005840" cy="237744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836408" y="1261872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1" i="0">
                <a:solidFill>
                  <a:srgbClr val="1B365D"/>
                </a:solidFill>
                <a:latin typeface="Trebuchet MS"/>
              </a:rPr>
              <a:t>VOLUME SCALE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0216" y="1243584"/>
            <a:ext cx="15087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Trebuchet MS"/>
              </a:rPr>
              <a:t>SNITCH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0216" y="1572768"/>
            <a:ext cx="25146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1">
                <a:solidFill>
                  <a:srgbClr val="EBB055"/>
                </a:solidFill>
                <a:latin typeface="Arial"/>
              </a:rPr>
              <a:t>Fast Fashion · ₹999–₹1.9k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300216" y="1847088"/>
            <a:ext cx="2514600" cy="749808"/>
          </a:xfrm>
          <a:prstGeom prst="roundRect">
            <a:avLst>
              <a:gd name="adj" fmla="val 4000"/>
            </a:avLst>
          </a:prstGeom>
          <a:solidFill>
            <a:srgbClr val="1B365D"/>
          </a:solidFill>
          <a:ln w="10160">
            <a:solidFill>
              <a:srgbClr val="EBB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300216" y="1847088"/>
            <a:ext cx="2514600" cy="41148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00216" y="1929384"/>
            <a:ext cx="25146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64748B"/>
                </a:solidFill>
                <a:latin typeface="Arial"/>
              </a:rPr>
              <a:t>Weekly Creatives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0216" y="2139696"/>
            <a:ext cx="2514600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Trebuchet MS"/>
              </a:rPr>
              <a:t>30+</a:t>
            </a:r>
          </a:p>
        </p:txBody>
      </p:sp>
      <p:sp>
        <p:nvSpPr>
          <p:cNvPr id="63" name="Oval 62"/>
          <p:cNvSpPr/>
          <p:nvPr/>
        </p:nvSpPr>
        <p:spPr>
          <a:xfrm>
            <a:off x="6300216" y="2752344"/>
            <a:ext cx="164592" cy="164592"/>
          </a:xfrm>
          <a:prstGeom prst="ellipse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47104" y="2697480"/>
            <a:ext cx="2286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Advantage+ Shopping Campaigns (ASC+) broad focus</a:t>
            </a:r>
          </a:p>
        </p:txBody>
      </p:sp>
      <p:sp>
        <p:nvSpPr>
          <p:cNvPr id="65" name="Oval 64"/>
          <p:cNvSpPr/>
          <p:nvPr/>
        </p:nvSpPr>
        <p:spPr>
          <a:xfrm>
            <a:off x="6300216" y="3154680"/>
            <a:ext cx="164592" cy="164592"/>
          </a:xfrm>
          <a:prstGeom prst="ellipse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47104" y="3099816"/>
            <a:ext cx="2286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30+ new ad variations shipped weekly to the feed</a:t>
            </a:r>
          </a:p>
        </p:txBody>
      </p:sp>
      <p:sp>
        <p:nvSpPr>
          <p:cNvPr id="67" name="Oval 66"/>
          <p:cNvSpPr/>
          <p:nvPr/>
        </p:nvSpPr>
        <p:spPr>
          <a:xfrm>
            <a:off x="6300216" y="3557016"/>
            <a:ext cx="164592" cy="164592"/>
          </a:xfrm>
          <a:prstGeom prst="ellipse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47104" y="3502152"/>
            <a:ext cx="2286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Fast-cut vertical reels &amp; meme-based hooks</a:t>
            </a:r>
          </a:p>
        </p:txBody>
      </p:sp>
      <p:sp>
        <p:nvSpPr>
          <p:cNvPr id="69" name="Oval 68"/>
          <p:cNvSpPr/>
          <p:nvPr/>
        </p:nvSpPr>
        <p:spPr>
          <a:xfrm>
            <a:off x="6300216" y="3959352"/>
            <a:ext cx="164592" cy="164592"/>
          </a:xfrm>
          <a:prstGeom prst="ellipse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547104" y="3904488"/>
            <a:ext cx="2286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Google PMax running alongside Meta broad scale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163056" y="5486400"/>
            <a:ext cx="2788920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163056" y="5486400"/>
            <a:ext cx="2788920" cy="32004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00216" y="5559552"/>
            <a:ext cx="25146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EBB055"/>
                </a:solidFill>
                <a:latin typeface="Trebuchet MS"/>
              </a:rPr>
              <a:t>→ STEAL &amp; ADAPT FOR C2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5779008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Set up 1 ASC+ campaign. Partner with agency to ship 10 new UGC creatives weekly.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061704" y="1170432"/>
            <a:ext cx="2788920" cy="5321808"/>
          </a:xfrm>
          <a:prstGeom prst="roundRect">
            <a:avLst>
              <a:gd name="adj" fmla="val 4000"/>
            </a:avLst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061704" y="1170432"/>
            <a:ext cx="2788920" cy="54864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735056" y="1243584"/>
            <a:ext cx="1005840" cy="237744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735056" y="1261872"/>
            <a:ext cx="100584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1" i="0">
                <a:solidFill>
                  <a:srgbClr val="224C38"/>
                </a:solidFill>
                <a:latin typeface="Trebuchet MS"/>
              </a:rPr>
              <a:t>UGC ENGINE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98864" y="1243584"/>
            <a:ext cx="15087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Trebuchet MS"/>
              </a:rPr>
              <a:t>BONKERS CORNER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98864" y="1572768"/>
            <a:ext cx="25146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1">
                <a:solidFill>
                  <a:srgbClr val="EBB055"/>
                </a:solidFill>
                <a:latin typeface="Arial"/>
              </a:rPr>
              <a:t>Affordable · ₹799–₹1.5k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198864" y="1847088"/>
            <a:ext cx="2514600" cy="749808"/>
          </a:xfrm>
          <a:prstGeom prst="roundRect">
            <a:avLst>
              <a:gd name="adj" fmla="val 4000"/>
            </a:avLst>
          </a:prstGeom>
          <a:solidFill>
            <a:srgbClr val="224C38"/>
          </a:solidFill>
          <a:ln w="10160">
            <a:solidFill>
              <a:srgbClr val="EBB0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198864" y="1847088"/>
            <a:ext cx="2514600" cy="41148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198864" y="1929384"/>
            <a:ext cx="25146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64748B"/>
                </a:solidFill>
                <a:latin typeface="Arial"/>
              </a:rPr>
              <a:t>Monthly UGC Videos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98864" y="2139696"/>
            <a:ext cx="2514600" cy="5120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Trebuchet MS"/>
              </a:rPr>
              <a:t>50+</a:t>
            </a:r>
          </a:p>
        </p:txBody>
      </p:sp>
      <p:sp>
        <p:nvSpPr>
          <p:cNvPr id="85" name="Oval 84"/>
          <p:cNvSpPr/>
          <p:nvPr/>
        </p:nvSpPr>
        <p:spPr>
          <a:xfrm>
            <a:off x="9198864" y="2752344"/>
            <a:ext cx="164592" cy="164592"/>
          </a:xfrm>
          <a:prstGeom prst="ellipse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445752" y="2697480"/>
            <a:ext cx="2286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College influencer hauls — low cost, high trust</a:t>
            </a:r>
          </a:p>
        </p:txBody>
      </p:sp>
      <p:sp>
        <p:nvSpPr>
          <p:cNvPr id="87" name="Oval 86"/>
          <p:cNvSpPr/>
          <p:nvPr/>
        </p:nvSpPr>
        <p:spPr>
          <a:xfrm>
            <a:off x="9198864" y="3154680"/>
            <a:ext cx="164592" cy="164592"/>
          </a:xfrm>
          <a:prstGeom prst="ellipse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445752" y="3099816"/>
            <a:ext cx="2286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Relatable hooks: 'POV: your wallet after this haul'</a:t>
            </a:r>
          </a:p>
        </p:txBody>
      </p:sp>
      <p:sp>
        <p:nvSpPr>
          <p:cNvPr id="89" name="Oval 88"/>
          <p:cNvSpPr/>
          <p:nvPr/>
        </p:nvSpPr>
        <p:spPr>
          <a:xfrm>
            <a:off x="9198864" y="3557016"/>
            <a:ext cx="164592" cy="164592"/>
          </a:xfrm>
          <a:prstGeom prst="ellipse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445752" y="3502152"/>
            <a:ext cx="2286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Heavy Snapchat story ads for younger cohorts</a:t>
            </a:r>
          </a:p>
        </p:txBody>
      </p:sp>
      <p:sp>
        <p:nvSpPr>
          <p:cNvPr id="91" name="Oval 90"/>
          <p:cNvSpPr/>
          <p:nvPr/>
        </p:nvSpPr>
        <p:spPr>
          <a:xfrm>
            <a:off x="9198864" y="3959352"/>
            <a:ext cx="164592" cy="164592"/>
          </a:xfrm>
          <a:prstGeom prst="ellipse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445752" y="3904488"/>
            <a:ext cx="22860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Organic video virality boosted with paid ad spend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061704" y="5486400"/>
            <a:ext cx="2788920" cy="1005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9061704" y="5486400"/>
            <a:ext cx="2788920" cy="32004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198864" y="5559552"/>
            <a:ext cx="251460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EBB055"/>
                </a:solidFill>
                <a:latin typeface="Trebuchet MS"/>
              </a:rPr>
              <a:t>→ STEAL &amp; ADAPT FOR C2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198864" y="5779008"/>
            <a:ext cx="25146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Arial"/>
              </a:rPr>
              <a:t>Haul-format reels showing fits. Maintain premium vibes — no humor, just street aesthetics.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36576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"/>
            <a:ext cx="1146017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Trebuchet MS"/>
              </a:rPr>
              <a:t>90-DAY EXECUTION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6017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EBB055"/>
                </a:solidFill>
                <a:latin typeface="Arial"/>
              </a:rPr>
              <a:t>Three focused sprints. One profitable outcome.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18288"/>
          </a:xfrm>
          <a:prstGeom prst="rect">
            <a:avLst/>
          </a:prstGeom>
          <a:solidFill>
            <a:srgbClr val="DAD4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638544"/>
            <a:ext cx="1109441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Arial"/>
              </a:rPr>
              <a:t>CHAPTER 2 DRIP  ·  GROWTH &amp; ROAS STRATEGY  · 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638544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224C38"/>
                </a:solidFill>
                <a:latin typeface="Arial"/>
              </a:rPr>
              <a:t>7 /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023360"/>
            <a:ext cx="11338560" cy="36576"/>
          </a:xfrm>
          <a:prstGeom prst="rect">
            <a:avLst/>
          </a:prstGeom>
          <a:solidFill>
            <a:srgbClr val="DAD4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1170432"/>
            <a:ext cx="3675887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170432"/>
            <a:ext cx="3675887" cy="54864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261872"/>
            <a:ext cx="367588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 i="0">
                <a:solidFill>
                  <a:srgbClr val="1B365D"/>
                </a:solidFill>
                <a:latin typeface="Trebuchet MS"/>
              </a:rPr>
              <a:t>MONTH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572768"/>
            <a:ext cx="36758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0F172A"/>
                </a:solidFill>
                <a:latin typeface="Trebuchet MS"/>
              </a:rPr>
              <a:t>FIX THE ENGINE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1920240"/>
            <a:ext cx="3310127" cy="22860"/>
          </a:xfrm>
          <a:prstGeom prst="rect">
            <a:avLst/>
          </a:prstGeom>
          <a:solidFill>
            <a:srgbClr val="DAD4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76072" y="2039112"/>
            <a:ext cx="164592" cy="164592"/>
          </a:xfrm>
          <a:prstGeom prst="ellipse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93392"/>
            <a:ext cx="3081527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0F172A"/>
                </a:solidFill>
                <a:latin typeface="Arial"/>
              </a:rPr>
              <a:t>Advantage+ broad focus - zero interest stack</a:t>
            </a:r>
          </a:p>
        </p:txBody>
      </p:sp>
      <p:sp>
        <p:nvSpPr>
          <p:cNvPr id="17" name="Oval 16"/>
          <p:cNvSpPr/>
          <p:nvPr/>
        </p:nvSpPr>
        <p:spPr>
          <a:xfrm>
            <a:off x="576072" y="2386584"/>
            <a:ext cx="164592" cy="164592"/>
          </a:xfrm>
          <a:prstGeom prst="ellipse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340864"/>
            <a:ext cx="3081527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0F172A"/>
                </a:solidFill>
                <a:latin typeface="Arial"/>
              </a:rPr>
              <a:t>Onboard 20 streetwear creators (10 UGC/wk)</a:t>
            </a:r>
          </a:p>
        </p:txBody>
      </p:sp>
      <p:sp>
        <p:nvSpPr>
          <p:cNvPr id="19" name="Oval 18"/>
          <p:cNvSpPr/>
          <p:nvPr/>
        </p:nvSpPr>
        <p:spPr>
          <a:xfrm>
            <a:off x="576072" y="2734056"/>
            <a:ext cx="164592" cy="164592"/>
          </a:xfrm>
          <a:prstGeom prst="ellipse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2688336"/>
            <a:ext cx="3081527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0F172A"/>
                </a:solidFill>
                <a:latin typeface="Arial"/>
              </a:rPr>
              <a:t>Day-0 to Day-90 automated retention flows</a:t>
            </a:r>
          </a:p>
        </p:txBody>
      </p:sp>
      <p:sp>
        <p:nvSpPr>
          <p:cNvPr id="21" name="Oval 20"/>
          <p:cNvSpPr/>
          <p:nvPr/>
        </p:nvSpPr>
        <p:spPr>
          <a:xfrm>
            <a:off x="576072" y="3081528"/>
            <a:ext cx="164592" cy="164592"/>
          </a:xfrm>
          <a:prstGeom prst="ellipse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35808"/>
            <a:ext cx="3081527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0F172A"/>
                </a:solidFill>
                <a:latin typeface="Arial"/>
              </a:rPr>
              <a:t>Google Brand Search campaign launched</a:t>
            </a:r>
          </a:p>
        </p:txBody>
      </p:sp>
      <p:sp>
        <p:nvSpPr>
          <p:cNvPr id="23" name="Oval 22"/>
          <p:cNvSpPr/>
          <p:nvPr/>
        </p:nvSpPr>
        <p:spPr>
          <a:xfrm>
            <a:off x="576072" y="3429000"/>
            <a:ext cx="164592" cy="164592"/>
          </a:xfrm>
          <a:prstGeom prst="ellipse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383280"/>
            <a:ext cx="3081527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0F172A"/>
                </a:solidFill>
                <a:latin typeface="Arial"/>
              </a:rPr>
              <a:t>Shopify PDP checkout and bundle builder updates</a:t>
            </a:r>
          </a:p>
        </p:txBody>
      </p:sp>
      <p:sp>
        <p:nvSpPr>
          <p:cNvPr id="25" name="Oval 24"/>
          <p:cNvSpPr/>
          <p:nvPr/>
        </p:nvSpPr>
        <p:spPr>
          <a:xfrm>
            <a:off x="2066543" y="3840480"/>
            <a:ext cx="365760" cy="365760"/>
          </a:xfrm>
          <a:prstGeom prst="ellipse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66543" y="387705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0" y="4279392"/>
            <a:ext cx="3675887" cy="594360"/>
          </a:xfrm>
          <a:prstGeom prst="roundRect">
            <a:avLst>
              <a:gd name="adj" fmla="val 4000"/>
            </a:avLst>
          </a:prstGeom>
          <a:solidFill>
            <a:srgbClr val="F0ECE4"/>
          </a:solidFill>
          <a:ln w="63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352544"/>
            <a:ext cx="3675887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 i="1">
                <a:solidFill>
                  <a:srgbClr val="1B365D"/>
                </a:solidFill>
                <a:latin typeface="Arial"/>
              </a:rPr>
              <a:t>ASC+ live · Retention active · UGC pipeline running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51959" y="1170432"/>
            <a:ext cx="3675887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E27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51959" y="1170432"/>
            <a:ext cx="3675887" cy="54864"/>
          </a:xfrm>
          <a:prstGeom prst="rect">
            <a:avLst/>
          </a:prstGeom>
          <a:solidFill>
            <a:srgbClr val="E27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51959" y="1261872"/>
            <a:ext cx="367588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 i="0">
                <a:solidFill>
                  <a:srgbClr val="E27B58"/>
                </a:solidFill>
                <a:latin typeface="Trebuchet MS"/>
              </a:rPr>
              <a:t>MONTH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51959" y="1572768"/>
            <a:ext cx="36758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0F172A"/>
                </a:solidFill>
                <a:latin typeface="Trebuchet MS"/>
              </a:rPr>
              <a:t>SCALE WINNERS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34839" y="1920240"/>
            <a:ext cx="3310127" cy="22860"/>
          </a:xfrm>
          <a:prstGeom prst="rect">
            <a:avLst/>
          </a:prstGeom>
          <a:solidFill>
            <a:srgbClr val="DAD4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416551" y="2039112"/>
            <a:ext cx="164592" cy="164592"/>
          </a:xfrm>
          <a:prstGeom prst="ellipse">
            <a:avLst/>
          </a:prstGeom>
          <a:solidFill>
            <a:srgbClr val="E27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39" y="1993392"/>
            <a:ext cx="3081527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0F172A"/>
                </a:solidFill>
                <a:latin typeface="Arial"/>
              </a:rPr>
              <a:t>5× budget on ROAS &gt; 3.2× active creatives</a:t>
            </a:r>
          </a:p>
        </p:txBody>
      </p:sp>
      <p:sp>
        <p:nvSpPr>
          <p:cNvPr id="36" name="Oval 35"/>
          <p:cNvSpPr/>
          <p:nvPr/>
        </p:nvSpPr>
        <p:spPr>
          <a:xfrm>
            <a:off x="4416551" y="2386584"/>
            <a:ext cx="164592" cy="164592"/>
          </a:xfrm>
          <a:prstGeom prst="ellipse">
            <a:avLst/>
          </a:prstGeom>
          <a:solidFill>
            <a:srgbClr val="E27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63439" y="2340864"/>
            <a:ext cx="3081527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0F172A"/>
                </a:solidFill>
                <a:latin typeface="Arial"/>
              </a:rPr>
              <a:t>Kill all ad variations under 25% hook rate</a:t>
            </a:r>
          </a:p>
        </p:txBody>
      </p:sp>
      <p:sp>
        <p:nvSpPr>
          <p:cNvPr id="38" name="Oval 37"/>
          <p:cNvSpPr/>
          <p:nvPr/>
        </p:nvSpPr>
        <p:spPr>
          <a:xfrm>
            <a:off x="4416551" y="2734056"/>
            <a:ext cx="164592" cy="164592"/>
          </a:xfrm>
          <a:prstGeom prst="ellipse">
            <a:avLst/>
          </a:prstGeom>
          <a:solidFill>
            <a:srgbClr val="E27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63439" y="2688336"/>
            <a:ext cx="3081527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0F172A"/>
                </a:solidFill>
                <a:latin typeface="Arial"/>
              </a:rPr>
              <a:t>Meta catalog DPA dynamic carousels live</a:t>
            </a:r>
          </a:p>
        </p:txBody>
      </p:sp>
      <p:sp>
        <p:nvSpPr>
          <p:cNvPr id="40" name="Oval 39"/>
          <p:cNvSpPr/>
          <p:nvPr/>
        </p:nvSpPr>
        <p:spPr>
          <a:xfrm>
            <a:off x="4416551" y="3081528"/>
            <a:ext cx="164592" cy="164592"/>
          </a:xfrm>
          <a:prstGeom prst="ellipse">
            <a:avLst/>
          </a:prstGeom>
          <a:solidFill>
            <a:srgbClr val="E27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63439" y="3035808"/>
            <a:ext cx="3081527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0F172A"/>
                </a:solidFill>
                <a:latin typeface="Arial"/>
              </a:rPr>
              <a:t>VIP drop early-access email/SMS blasts</a:t>
            </a:r>
          </a:p>
        </p:txBody>
      </p:sp>
      <p:sp>
        <p:nvSpPr>
          <p:cNvPr id="42" name="Oval 41"/>
          <p:cNvSpPr/>
          <p:nvPr/>
        </p:nvSpPr>
        <p:spPr>
          <a:xfrm>
            <a:off x="4416551" y="3429000"/>
            <a:ext cx="164592" cy="164592"/>
          </a:xfrm>
          <a:prstGeom prst="ellipse">
            <a:avLst/>
          </a:prstGeom>
          <a:solidFill>
            <a:srgbClr val="E27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63439" y="3383280"/>
            <a:ext cx="3081527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0F172A"/>
                </a:solidFill>
                <a:latin typeface="Arial"/>
              </a:rPr>
              <a:t>PDP A/B tests: single item vs. bundle sets</a:t>
            </a:r>
          </a:p>
        </p:txBody>
      </p:sp>
      <p:sp>
        <p:nvSpPr>
          <p:cNvPr id="44" name="Oval 43"/>
          <p:cNvSpPr/>
          <p:nvPr/>
        </p:nvSpPr>
        <p:spPr>
          <a:xfrm>
            <a:off x="5907022" y="3840480"/>
            <a:ext cx="365760" cy="365760"/>
          </a:xfrm>
          <a:prstGeom prst="ellipse">
            <a:avLst/>
          </a:prstGeom>
          <a:solidFill>
            <a:srgbClr val="E27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07022" y="387705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51959" y="4279392"/>
            <a:ext cx="3675887" cy="594360"/>
          </a:xfrm>
          <a:prstGeom prst="roundRect">
            <a:avLst>
              <a:gd name="adj" fmla="val 4000"/>
            </a:avLst>
          </a:prstGeom>
          <a:solidFill>
            <a:srgbClr val="F0ECE4"/>
          </a:solidFill>
          <a:ln w="6350">
            <a:solidFill>
              <a:srgbClr val="E27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51959" y="4352544"/>
            <a:ext cx="3675887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 i="1">
                <a:solidFill>
                  <a:srgbClr val="E27B58"/>
                </a:solidFill>
                <a:latin typeface="Arial"/>
              </a:rPr>
              <a:t>2-3 scaling creatives · AOV ₹2,800+ · DPAs active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092438" y="1170432"/>
            <a:ext cx="3675887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1430">
            <a:solidFill>
              <a:srgbClr val="224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092438" y="1170432"/>
            <a:ext cx="3675887" cy="54864"/>
          </a:xfrm>
          <a:prstGeom prst="rect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092438" y="1261872"/>
            <a:ext cx="3675887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 i="0">
                <a:solidFill>
                  <a:srgbClr val="224C38"/>
                </a:solidFill>
                <a:latin typeface="Trebuchet MS"/>
              </a:rPr>
              <a:t>MONTH 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92438" y="1572768"/>
            <a:ext cx="36758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0F172A"/>
                </a:solidFill>
                <a:latin typeface="Trebuchet MS"/>
              </a:rPr>
              <a:t>COMPOUND &amp; RETAIN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75318" y="1920240"/>
            <a:ext cx="3310127" cy="22860"/>
          </a:xfrm>
          <a:prstGeom prst="rect">
            <a:avLst/>
          </a:prstGeom>
          <a:solidFill>
            <a:srgbClr val="DAD4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257030" y="2039112"/>
            <a:ext cx="164592" cy="164592"/>
          </a:xfrm>
          <a:prstGeom prst="ellipse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503918" y="1993392"/>
            <a:ext cx="3081527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0F172A"/>
                </a:solidFill>
                <a:latin typeface="Arial"/>
              </a:rPr>
              <a:t>Cross-sell SMS automation: Day-14 post-buy</a:t>
            </a:r>
          </a:p>
        </p:txBody>
      </p:sp>
      <p:sp>
        <p:nvSpPr>
          <p:cNvPr id="55" name="Oval 54"/>
          <p:cNvSpPr/>
          <p:nvPr/>
        </p:nvSpPr>
        <p:spPr>
          <a:xfrm>
            <a:off x="8257030" y="2386584"/>
            <a:ext cx="164592" cy="164592"/>
          </a:xfrm>
          <a:prstGeom prst="ellipse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03918" y="2340864"/>
            <a:ext cx="3081527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0F172A"/>
                </a:solidFill>
                <a:latin typeface="Arial"/>
              </a:rPr>
              <a:t>Referral engine: get ₹200, give ₹200</a:t>
            </a:r>
          </a:p>
        </p:txBody>
      </p:sp>
      <p:sp>
        <p:nvSpPr>
          <p:cNvPr id="57" name="Oval 56"/>
          <p:cNvSpPr/>
          <p:nvPr/>
        </p:nvSpPr>
        <p:spPr>
          <a:xfrm>
            <a:off x="8257030" y="2734056"/>
            <a:ext cx="164592" cy="164592"/>
          </a:xfrm>
          <a:prstGeom prst="ellipse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503918" y="2688336"/>
            <a:ext cx="3081527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0F172A"/>
                </a:solidFill>
                <a:latin typeface="Arial"/>
              </a:rPr>
              <a:t>Win-back automated loop for 60-day lapsed</a:t>
            </a:r>
          </a:p>
        </p:txBody>
      </p:sp>
      <p:sp>
        <p:nvSpPr>
          <p:cNvPr id="59" name="Oval 58"/>
          <p:cNvSpPr/>
          <p:nvPr/>
        </p:nvSpPr>
        <p:spPr>
          <a:xfrm>
            <a:off x="8257030" y="3081528"/>
            <a:ext cx="164592" cy="164592"/>
          </a:xfrm>
          <a:prstGeom prst="ellipse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03918" y="3035808"/>
            <a:ext cx="3081527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0F172A"/>
                </a:solidFill>
                <a:latin typeface="Arial"/>
              </a:rPr>
              <a:t>Test localized Hinglish reels hooks (Mumbai/Delhi)</a:t>
            </a:r>
          </a:p>
        </p:txBody>
      </p:sp>
      <p:sp>
        <p:nvSpPr>
          <p:cNvPr id="61" name="Oval 60"/>
          <p:cNvSpPr/>
          <p:nvPr/>
        </p:nvSpPr>
        <p:spPr>
          <a:xfrm>
            <a:off x="8257030" y="3429000"/>
            <a:ext cx="164592" cy="164592"/>
          </a:xfrm>
          <a:prstGeom prst="ellipse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03918" y="3383280"/>
            <a:ext cx="3081527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0F172A"/>
                </a:solidFill>
                <a:latin typeface="Arial"/>
              </a:rPr>
              <a:t>ROAS audit: blend search &amp; paid at target ≥ 3.2×</a:t>
            </a:r>
          </a:p>
        </p:txBody>
      </p:sp>
      <p:sp>
        <p:nvSpPr>
          <p:cNvPr id="63" name="Oval 62"/>
          <p:cNvSpPr/>
          <p:nvPr/>
        </p:nvSpPr>
        <p:spPr>
          <a:xfrm>
            <a:off x="9747501" y="3840480"/>
            <a:ext cx="365760" cy="365760"/>
          </a:xfrm>
          <a:prstGeom prst="ellipse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747501" y="3877056"/>
            <a:ext cx="36576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092438" y="4279392"/>
            <a:ext cx="3675887" cy="594360"/>
          </a:xfrm>
          <a:prstGeom prst="roundRect">
            <a:avLst>
              <a:gd name="adj" fmla="val 4000"/>
            </a:avLst>
          </a:prstGeom>
          <a:solidFill>
            <a:srgbClr val="F0ECE4"/>
          </a:solidFill>
          <a:ln w="6350">
            <a:solidFill>
              <a:srgbClr val="224C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92438" y="4352544"/>
            <a:ext cx="3675887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 i="1">
                <a:solidFill>
                  <a:srgbClr val="224C38"/>
                </a:solidFill>
                <a:latin typeface="Arial"/>
              </a:rPr>
              <a:t>ROAS 3.2× · CM1 +ve · Repeat 20%+ · LTV scaling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2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45720" cy="6858000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80960" y="0"/>
            <a:ext cx="4510735" cy="6858000"/>
          </a:xfrm>
          <a:prstGeom prst="rect">
            <a:avLst/>
          </a:prstGeom>
          <a:solidFill>
            <a:srgbClr val="EBE6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35240" y="0"/>
            <a:ext cx="45720" cy="6858000"/>
          </a:xfrm>
          <a:prstGeom prst="rect">
            <a:avLst/>
          </a:prstGeom>
          <a:solidFill>
            <a:srgbClr val="E27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6858000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Trebuchet MS"/>
              </a:rPr>
              <a:t>THE COMMITMENT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08176"/>
            <a:ext cx="6858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800" b="1" i="0">
                <a:solidFill>
                  <a:srgbClr val="0F172A"/>
                </a:solidFill>
                <a:latin typeface="Trebuchet MS"/>
              </a:rPr>
              <a:t>Three deliverables for scale.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697480"/>
            <a:ext cx="475488" cy="475488"/>
          </a:xfrm>
          <a:prstGeom prst="ellipse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788920"/>
            <a:ext cx="475488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Trebuchet M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697480"/>
            <a:ext cx="62179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 i="0">
                <a:solidFill>
                  <a:srgbClr val="0F172A"/>
                </a:solidFill>
                <a:latin typeface="Trebuchet MS"/>
              </a:rPr>
              <a:t>A creative-led machine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008376"/>
            <a:ext cx="6217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64748B"/>
                </a:solidFill>
                <a:latin typeface="Arial"/>
              </a:rPr>
              <a:t>No celebrity dependency. The creative matches and targets the buyer.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657600"/>
            <a:ext cx="475488" cy="475488"/>
          </a:xfrm>
          <a:prstGeom prst="ellipse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749040"/>
            <a:ext cx="475488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Trebuchet M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657600"/>
            <a:ext cx="62179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 i="0">
                <a:solidFill>
                  <a:srgbClr val="0F172A"/>
                </a:solidFill>
                <a:latin typeface="Trebuchet MS"/>
              </a:rPr>
              <a:t>A retention flywheel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968496"/>
            <a:ext cx="6217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64748B"/>
                </a:solidFill>
                <a:latin typeface="Arial"/>
              </a:rPr>
              <a:t>Every buyer re-buys. CAC compounds down, customer lifetime value up.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4617720"/>
            <a:ext cx="475488" cy="475488"/>
          </a:xfrm>
          <a:prstGeom prst="ellipse">
            <a:avLst/>
          </a:prstGeom>
          <a:solidFill>
            <a:srgbClr val="E27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709160"/>
            <a:ext cx="475488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Trebuchet M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617720"/>
            <a:ext cx="62179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1" i="0">
                <a:solidFill>
                  <a:srgbClr val="0F172A"/>
                </a:solidFill>
                <a:latin typeface="Trebuchet MS"/>
              </a:rPr>
              <a:t>ROAS 3.2× in 90 days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928616"/>
            <a:ext cx="6217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 i="1">
                <a:solidFill>
                  <a:srgbClr val="64748B"/>
                </a:solidFill>
                <a:latin typeface="Arial"/>
              </a:rPr>
              <a:t>From –₹13.5L/mo margin loss to +₹1 Cr+ contribution margin.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5897880"/>
            <a:ext cx="5029200" cy="36576"/>
          </a:xfrm>
          <a:prstGeom prst="rect">
            <a:avLst/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0167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Arial"/>
              </a:rPr>
              <a:t>CHAPTER 2 DRIP  ·  SCALE STRATEGY PRESENTATION  ·  2026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365760"/>
            <a:ext cx="3886200" cy="6035040"/>
          </a:xfrm>
          <a:prstGeom prst="roundRect">
            <a:avLst>
              <a:gd name="adj" fmla="val 4000"/>
            </a:avLst>
          </a:prstGeom>
          <a:solidFill>
            <a:srgbClr val="2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9560" y="365760"/>
            <a:ext cx="3886200" cy="54864"/>
          </a:xfrm>
          <a:prstGeom prst="rect">
            <a:avLst/>
          </a:prstGeom>
          <a:solidFill>
            <a:srgbClr val="EBB0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2440" y="502920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EBB055"/>
                </a:solidFill>
                <a:latin typeface="Trebuchet MS"/>
              </a:rPr>
              <a:t>WHAT THIS UNLOCKS FOR C2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09560" y="914400"/>
            <a:ext cx="3886200" cy="804672"/>
          </a:xfrm>
          <a:prstGeom prst="rect">
            <a:avLst/>
          </a:prstGeom>
          <a:solidFill>
            <a:srgbClr val="224C38"/>
          </a:solidFill>
          <a:ln w="508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92440" y="987552"/>
            <a:ext cx="35204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50" b="1" i="0">
                <a:solidFill>
                  <a:srgbClr val="EBB055"/>
                </a:solidFill>
                <a:latin typeface="Trebuchet MS"/>
              </a:rPr>
              <a:t>₹90L → ₹1.35 Cr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40" y="1353312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1">
                <a:solidFill>
                  <a:srgbClr val="EBB055"/>
                </a:solidFill>
                <a:latin typeface="Arial"/>
              </a:rPr>
              <a:t>Ad spend scaled 1.5× with stability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09560" y="1755648"/>
            <a:ext cx="3886200" cy="804672"/>
          </a:xfrm>
          <a:prstGeom prst="rect">
            <a:avLst/>
          </a:prstGeom>
          <a:solidFill>
            <a:srgbClr val="224C38"/>
          </a:solidFill>
          <a:ln w="508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92440" y="1828800"/>
            <a:ext cx="35204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Trebuchet MS"/>
              </a:rPr>
              <a:t>1.8× → 3.2×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2440" y="2194560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1">
                <a:solidFill>
                  <a:srgbClr val="EBB055"/>
                </a:solidFill>
                <a:latin typeface="Arial"/>
              </a:rPr>
              <a:t>Meta &amp; Google blended ROAS target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09560" y="2596896"/>
            <a:ext cx="3886200" cy="804672"/>
          </a:xfrm>
          <a:prstGeom prst="rect">
            <a:avLst/>
          </a:prstGeom>
          <a:solidFill>
            <a:srgbClr val="224C38"/>
          </a:solidFill>
          <a:ln w="508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92440" y="2670048"/>
            <a:ext cx="35204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50" b="1" i="0">
                <a:solidFill>
                  <a:srgbClr val="EBB055"/>
                </a:solidFill>
                <a:latin typeface="Trebuchet MS"/>
              </a:rPr>
              <a:t>₹1.62 Cr → ₹4.32 Cr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92440" y="3035808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1">
                <a:solidFill>
                  <a:srgbClr val="EBB055"/>
                </a:solidFill>
                <a:latin typeface="Arial"/>
              </a:rPr>
              <a:t>Gross monthly revenue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09560" y="3438144"/>
            <a:ext cx="3886200" cy="804672"/>
          </a:xfrm>
          <a:prstGeom prst="rect">
            <a:avLst/>
          </a:prstGeom>
          <a:solidFill>
            <a:srgbClr val="224C38"/>
          </a:solidFill>
          <a:ln w="508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92440" y="3511296"/>
            <a:ext cx="35204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Trebuchet MS"/>
              </a:rPr>
              <a:t>–8.3% → +25.0%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92440" y="3877056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1">
                <a:solidFill>
                  <a:srgbClr val="EBB055"/>
                </a:solidFill>
                <a:latin typeface="Arial"/>
              </a:rPr>
              <a:t>Contribution Margin 1 (CM1) flip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09560" y="4279392"/>
            <a:ext cx="3886200" cy="804672"/>
          </a:xfrm>
          <a:prstGeom prst="rect">
            <a:avLst/>
          </a:prstGeom>
          <a:solidFill>
            <a:srgbClr val="224C38"/>
          </a:solidFill>
          <a:ln w="508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2440" y="4352544"/>
            <a:ext cx="35204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50" b="1" i="0">
                <a:solidFill>
                  <a:srgbClr val="EBB055"/>
                </a:solidFill>
                <a:latin typeface="Trebuchet MS"/>
              </a:rPr>
              <a:t>&lt;10% → 25.0%+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2440" y="4718304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1">
                <a:solidFill>
                  <a:srgbClr val="EBB055"/>
                </a:solidFill>
                <a:latin typeface="Arial"/>
              </a:rPr>
              <a:t>Customer repeat purchase rate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09560" y="5120640"/>
            <a:ext cx="3886200" cy="804672"/>
          </a:xfrm>
          <a:prstGeom prst="rect">
            <a:avLst/>
          </a:prstGeom>
          <a:solidFill>
            <a:srgbClr val="224C38"/>
          </a:solidFill>
          <a:ln w="5080">
            <a:solidFill>
              <a:srgbClr val="DAD4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92440" y="5193792"/>
            <a:ext cx="352044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Trebuchet MS"/>
              </a:rPr>
              <a:t>₹2,200 → ₹3,200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2440" y="5559552"/>
            <a:ext cx="3520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i="1">
                <a:solidFill>
                  <a:srgbClr val="EBB055"/>
                </a:solidFill>
                <a:latin typeface="Arial"/>
              </a:rPr>
              <a:t>Average Order Value (AOV) via bundle packs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601968"/>
            <a:ext cx="12191695" cy="18288"/>
          </a:xfrm>
          <a:prstGeom prst="rect">
            <a:avLst/>
          </a:prstGeom>
          <a:solidFill>
            <a:srgbClr val="DAD4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638544"/>
            <a:ext cx="1109441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Arial"/>
              </a:rPr>
              <a:t>CHAPTER 2 DRIP  ·  GROWTH &amp; ROAS STRATEGY  ·  CONFIDENTIAL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638544"/>
            <a:ext cx="457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224C38"/>
                </a:solidFill>
                <a:latin typeface="Arial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